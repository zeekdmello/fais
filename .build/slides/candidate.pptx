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bc93d225534777" /><Relationship Type="http://schemas.openxmlformats.org/officeDocument/2006/relationships/extended-properties" Target="/docProps/app.xml" Id="Rbd8fe817ec9a41e9" /><Relationship Type="http://schemas.openxmlformats.org/officeDocument/2006/relationships/officeDocument" Target="/ppt/presentation.xml" Id="Re7c519218c3a4d01" /></Relationships>
</file>

<file path=ppt/presentation.xml><?xml version="1.0" encoding="utf-8"?>
<p:presentation xmlns:p="http://schemas.openxmlformats.org/presentationml/2006/main">
  <p:sldMasterIdLst>
    <p:sldMasterId xmlns:r="http://schemas.openxmlformats.org/officeDocument/2006/relationships" id="2147483648" r:id="R9f6886a3a2dc4267"/>
  </p:sldMasterIdLst>
  <p:notesMasterIdLst>
    <p:notesMasterId xmlns:r="http://schemas.openxmlformats.org/officeDocument/2006/relationships" r:id="Rf8ca02e1db0f41ee"/>
  </p:notesMasterIdLst>
  <p:sldIdLst>
    <p:sldId xmlns:r="http://schemas.openxmlformats.org/officeDocument/2006/relationships" id="256" r:id="R9e54aba05f494466"/>
    <p:sldId xmlns:r="http://schemas.openxmlformats.org/officeDocument/2006/relationships" id="257" r:id="R531670ebbbfb42bf"/>
    <p:sldId xmlns:r="http://schemas.openxmlformats.org/officeDocument/2006/relationships" id="258" r:id="R8861a142f0a94782"/>
    <p:sldId xmlns:r="http://schemas.openxmlformats.org/officeDocument/2006/relationships" id="259" r:id="R165dfcfaf8fc465b"/>
    <p:sldId xmlns:r="http://schemas.openxmlformats.org/officeDocument/2006/relationships" id="260" r:id="Rde120055bbd24370"/>
    <p:sldId xmlns:r="http://schemas.openxmlformats.org/officeDocument/2006/relationships" id="261" r:id="Rff1522187f46474b"/>
    <p:sldId xmlns:r="http://schemas.openxmlformats.org/officeDocument/2006/relationships" id="262" r:id="Rfbadd64abe0d4a33"/>
    <p:sldId xmlns:r="http://schemas.openxmlformats.org/officeDocument/2006/relationships" id="263" r:id="R125a2f835c344074"/>
    <p:sldId xmlns:r="http://schemas.openxmlformats.org/officeDocument/2006/relationships" id="264" r:id="R7b27c2ac187a4cc5"/>
    <p:sldId xmlns:r="http://schemas.openxmlformats.org/officeDocument/2006/relationships" id="265" r:id="Rd3ac0260d56044ef"/>
    <p:sldId xmlns:r="http://schemas.openxmlformats.org/officeDocument/2006/relationships" id="266" r:id="R378464643694444d"/>
    <p:sldId xmlns:r="http://schemas.openxmlformats.org/officeDocument/2006/relationships" id="267" r:id="R175aa7d8c9ac426d"/>
    <p:sldId xmlns:r="http://schemas.openxmlformats.org/officeDocument/2006/relationships" id="268" r:id="Rd2d5fa58c5e14dcc"/>
    <p:sldId xmlns:r="http://schemas.openxmlformats.org/officeDocument/2006/relationships" id="269" r:id="Ra622539c77104b49"/>
    <p:sldId xmlns:r="http://schemas.openxmlformats.org/officeDocument/2006/relationships" id="270" r:id="R94f6477908ec4ed1"/>
    <p:sldId xmlns:r="http://schemas.openxmlformats.org/officeDocument/2006/relationships" id="271" r:id="R362815edb4384f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b1b283e4274869" /><Relationship Type="http://schemas.openxmlformats.org/officeDocument/2006/relationships/slideMaster" Target="/ppt/slideMasters/slideMaster1.xml" Id="R9f6886a3a2dc4267" /><Relationship Type="http://schemas.openxmlformats.org/officeDocument/2006/relationships/notesMaster" Target="/ppt/notesMasters/notesMaster1.xml" Id="Rf8ca02e1db0f41ee" /><Relationship Type="http://schemas.openxmlformats.org/officeDocument/2006/relationships/presProps" Target="/ppt/presProps.xml" Id="Ra4a1c2249a8349a6" /><Relationship Type="http://schemas.openxmlformats.org/officeDocument/2006/relationships/tableStyles" Target="/ppt/tableStyles.xml" Id="R44afba36b8f647b2" /><Relationship Type="http://schemas.openxmlformats.org/officeDocument/2006/relationships/slide" Target="/ppt/slides/slide1.xml" Id="R9e54aba05f494466" /><Relationship Type="http://schemas.openxmlformats.org/officeDocument/2006/relationships/slide" Target="/ppt/slides/slide2.xml" Id="R531670ebbbfb42bf" /><Relationship Type="http://schemas.openxmlformats.org/officeDocument/2006/relationships/slide" Target="/ppt/slides/slide3.xml" Id="R8861a142f0a94782" /><Relationship Type="http://schemas.openxmlformats.org/officeDocument/2006/relationships/slide" Target="/ppt/slides/slide4.xml" Id="R165dfcfaf8fc465b" /><Relationship Type="http://schemas.openxmlformats.org/officeDocument/2006/relationships/slide" Target="/ppt/slides/slide5.xml" Id="Rde120055bbd24370" /><Relationship Type="http://schemas.openxmlformats.org/officeDocument/2006/relationships/slide" Target="/ppt/slides/slide6.xml" Id="Rff1522187f46474b" /><Relationship Type="http://schemas.openxmlformats.org/officeDocument/2006/relationships/slide" Target="/ppt/slides/slide7.xml" Id="Rfbadd64abe0d4a33" /><Relationship Type="http://schemas.openxmlformats.org/officeDocument/2006/relationships/slide" Target="/ppt/slides/slide8.xml" Id="R125a2f835c344074" /><Relationship Type="http://schemas.openxmlformats.org/officeDocument/2006/relationships/slide" Target="/ppt/slides/slide9.xml" Id="R7b27c2ac187a4cc5" /><Relationship Type="http://schemas.openxmlformats.org/officeDocument/2006/relationships/slide" Target="/ppt/slides/slide10.xml" Id="Rd3ac0260d56044ef" /><Relationship Type="http://schemas.openxmlformats.org/officeDocument/2006/relationships/slide" Target="/ppt/slides/slide11.xml" Id="R378464643694444d" /><Relationship Type="http://schemas.openxmlformats.org/officeDocument/2006/relationships/slide" Target="/ppt/slides/slide12.xml" Id="R175aa7d8c9ac426d" /><Relationship Type="http://schemas.openxmlformats.org/officeDocument/2006/relationships/slide" Target="/ppt/slides/slide13.xml" Id="Rd2d5fa58c5e14dcc" /><Relationship Type="http://schemas.openxmlformats.org/officeDocument/2006/relationships/slide" Target="/ppt/slides/slide14.xml" Id="Ra622539c77104b49" /><Relationship Type="http://schemas.openxmlformats.org/officeDocument/2006/relationships/slide" Target="/ppt/slides/slide15.xml" Id="R94f6477908ec4ed1" /><Relationship Type="http://schemas.openxmlformats.org/officeDocument/2006/relationships/slide" Target="/ppt/slides/slide16.xml" Id="R362815edb4384f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2b923848b84a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66d9e6ba274902" /><Relationship Type="http://schemas.openxmlformats.org/officeDocument/2006/relationships/notesMaster" Target="/ppt/notesMasters/notesMaster1.xml" Id="R1ffa7a9c461949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8506dd13e54175" /><Relationship Type="http://schemas.openxmlformats.org/officeDocument/2006/relationships/notesMaster" Target="/ppt/notesMasters/notesMaster1.xml" Id="R629334997e8d47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e9624f6b0f49c3" /><Relationship Type="http://schemas.openxmlformats.org/officeDocument/2006/relationships/notesMaster" Target="/ppt/notesMasters/notesMaster1.xml" Id="Rdab12c608ec444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c60652e26c4731" /><Relationship Type="http://schemas.openxmlformats.org/officeDocument/2006/relationships/notesMaster" Target="/ppt/notesMasters/notesMaster1.xml" Id="R0ecac57c8f0648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c7e84202dd4320" /><Relationship Type="http://schemas.openxmlformats.org/officeDocument/2006/relationships/notesMaster" Target="/ppt/notesMasters/notesMaster1.xml" Id="R46a24527fd4f46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077a47d23b4f5f" /><Relationship Type="http://schemas.openxmlformats.org/officeDocument/2006/relationships/notesMaster" Target="/ppt/notesMasters/notesMaster1.xml" Id="R04d962f943a644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8d03e313a049e9" /><Relationship Type="http://schemas.openxmlformats.org/officeDocument/2006/relationships/notesMaster" Target="/ppt/notesMasters/notesMaster1.xml" Id="Rafbcc2be98d546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1cf7c947774b58" /><Relationship Type="http://schemas.openxmlformats.org/officeDocument/2006/relationships/notesMaster" Target="/ppt/notesMasters/notesMaster1.xml" Id="Rd515510b323e46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00b010bf1540bd" /><Relationship Type="http://schemas.openxmlformats.org/officeDocument/2006/relationships/notesMaster" Target="/ppt/notesMasters/notesMaster1.xml" Id="R8b0f7f57360645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ecaa6931ae4092" /><Relationship Type="http://schemas.openxmlformats.org/officeDocument/2006/relationships/notesMaster" Target="/ppt/notesMasters/notesMaster1.xml" Id="R016c55ee4f9649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e60424465d4b4a" /><Relationship Type="http://schemas.openxmlformats.org/officeDocument/2006/relationships/notesMaster" Target="/ppt/notesMasters/notesMaster1.xml" Id="Rdb4ee54f335f44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d4ac50d72f4a9a" /><Relationship Type="http://schemas.openxmlformats.org/officeDocument/2006/relationships/notesMaster" Target="/ppt/notesMasters/notesMaster1.xml" Id="R2d25d5f5f0a74e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ce1cffb2fd0461c" /><Relationship Type="http://schemas.openxmlformats.org/officeDocument/2006/relationships/notesMaster" Target="/ppt/notesMasters/notesMaster1.xml" Id="R055ee14f672543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c04f15569f44c4" /><Relationship Type="http://schemas.openxmlformats.org/officeDocument/2006/relationships/notesMaster" Target="/ppt/notesMasters/notesMaster1.xml" Id="R48a1040dd55341a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489be35a71646b2" /><Relationship Type="http://schemas.openxmlformats.org/officeDocument/2006/relationships/notesMaster" Target="/ppt/notesMasters/notesMaster1.xml" Id="R830eab9dbad842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b3bff240ebc4743" /><Relationship Type="http://schemas.openxmlformats.org/officeDocument/2006/relationships/notesMaster" Target="/ppt/notesMasters/notesMaster1.xml" Id="R45106fde835a4a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Fais as a personal task and routine planner. Replace all bracketed academic identity fields with the team’s actual information before submission. The app name takes inspiration from the French verb faire, to do or make.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Fais brings one-time work and repeating routines into one personal workspace. The demo uses a labeled fictional account; real accounts start empty.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these as the problems our project addresses, not a claim that every existing application lacks the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these objectives map to implemented modules. Priority is an explicit ordering rule. MongoDB persistence means a refresh restores confirmed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has individual accounts, not a shared team model. Mood journaling was optional and remains future scope. There is no deployed production service in this deliverable.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lists are useful but do not automatically synchronize or summarize data. Modern digital planners can already include advanced features. Fais is a focused full-stack implementation and learning project, not an unsupported novelty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app in order: register, plan tasks, check in to routines, inspect reports. All business data passes through Express, which applies ownership and validation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lists the actual software environment and practical hardware advice, not a benchmarked minimum. MongoDB 8.0 macOS support starts at macOS 14. Compass is optional and can be installed later. Sources: https://www.mongodb.com/docs/v8.0/tutorial/install-mongodb-on-os-x/ and https://vite.dev/guide/.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renders the browser interface. Vite builds it. Express runs REST routes on Node. Mongoose connects the server to MongoDB. Supporting dependencies have specific jobs: bcrypt hashes, express-session and connect-mongo manage sessions, Luxon handles IANA timezone calculations. Official documentation links are on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never connects directly to MongoDB. The forward arrows represent requests/queries and the reverse arrows represent JSON responses/results. Express middleware verifies the session, Origin, CSRF token and ownership. The same API can support a future native client with appropriate authentication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modules share a small centralized API helper and authentication context. Autosave serializes edits and retains unsaved text after a failed request. Activity is not a guaranteed transactional audit log: a failed activity write raises a visible warning after the core mutation is saved.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actual screenshots from the running Fais application, using clearly labeled demo data. The screenshots show the implemented task editor and routine board, not the source reference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future possibilities, not completed features. A native Android client would reuse Express. Offline support requires a conflict and synchronization design. A mood journal and native widgets were intentionally not included in the core deliverable.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actual application before making claims. The tests cover ownership, priority order, routine dates/history, timezone boundaries and save failures. Avoid invented performance figures or claims of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inspiration: https://myturn.kr/ and https://play.google.com/store/apps/details?id=kr.cheesebear.routineapptwo. The additional task-priority screenshot was supplied by the user. Original inline SVG art belongs to this project. Lucide: https://lucide.dev/license (ISC). Fonts: DM Sans and Manrope via https://fonts.google.com/ (SIL Open Font License). Official documentation: https://www.mongodb.com/docs/, https://mongoosejs.com/docs/, https://expressjs.com/, https://react.dev/, https://nodejs.org/docs/latest-v24.x/api/, https://vite.dev/guide/, https://moment.github.io/luxon/.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Be ready to demonstrate one request flow from React through Express to MongoDB and explain the autosave failure and timezone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19a09db21f40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d451ba083443a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6a290d4a104f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c38586e7f84a6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d7f10ecf9934c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899190106a49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621DFB-C833-430D-9297-9D297CBBC90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E2AD3C-D947-426A-AC7E-97EF5616F18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4FBC6AB-7E62-4575-BD72-2884A969028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356F80-2E94-4241-8587-DEFDA7DF60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672AE4-53D4-4925-A436-310E468AB0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3B8E2F2-EFDF-4B8E-8FE6-883EC7446D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5A67C2-8EC1-4AF3-846E-A5812651AB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316145-34BD-4627-899C-4A24E61ADD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418B39-7352-44A5-8FDB-7582E98EEA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2FDA44-ABA1-4AEA-8C01-BFBA5EDAD6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53a67c9ef0414d" /><Relationship Type="http://schemas.openxmlformats.org/officeDocument/2006/relationships/slideLayout" Target="/ppt/slideLayouts/slideLayout1.xml" Id="Ra8e412ba2b314844" /><Relationship Type="http://schemas.openxmlformats.org/officeDocument/2006/relationships/slideLayout" Target="/ppt/slideLayouts/slideLayout2.xml" Id="R80efbf76e48647a0" /><Relationship Type="http://schemas.openxmlformats.org/officeDocument/2006/relationships/slideLayout" Target="/ppt/slideLayouts/slideLayout3.xml" Id="R51c51df926a74b0b" /><Relationship Type="http://schemas.openxmlformats.org/officeDocument/2006/relationships/slideLayout" Target="/ppt/slideLayouts/slideLayout4.xml" Id="R9c1be9777b494717" /><Relationship Type="http://schemas.openxmlformats.org/officeDocument/2006/relationships/slideLayout" Target="/ppt/slideLayouts/slideLayout5.xml" Id="Rcbaec335b6004bd6" /><Relationship Type="http://schemas.openxmlformats.org/officeDocument/2006/relationships/slideLayout" Target="/ppt/slideLayouts/slideLayout6.xml" Id="Rd96d5ca015aa40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e412ba2b314844"/>
    <p:sldLayoutId xmlns:r="http://schemas.openxmlformats.org/officeDocument/2006/relationships" id="2147483650" r:id="R80efbf76e48647a0"/>
    <p:sldLayoutId xmlns:r="http://schemas.openxmlformats.org/officeDocument/2006/relationships" id="2147483651" r:id="R51c51df926a74b0b"/>
    <p:sldLayoutId xmlns:r="http://schemas.openxmlformats.org/officeDocument/2006/relationships" id="2147483652" r:id="R9c1be9777b494717"/>
    <p:sldLayoutId xmlns:r="http://schemas.openxmlformats.org/officeDocument/2006/relationships" id="2147483653" r:id="Rcbaec335b6004bd6"/>
    <p:sldLayoutId xmlns:r="http://schemas.openxmlformats.org/officeDocument/2006/relationships" id="2147483654" r:id="Rd96d5ca015aa40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0a14f0d8a7462f" /><Relationship Type="http://schemas.openxmlformats.org/officeDocument/2006/relationships/notesSlide" Target="/ppt/notesSlides/notesSlide1.xml" Id="R7bcc46488d1645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f9c10d852c24ea6" /><Relationship Type="http://schemas.openxmlformats.org/officeDocument/2006/relationships/notesSlide" Target="/ppt/notesSlides/notesSlide2.xml" Id="R5ab0d69c15a54b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acff21b7a63408c" /><Relationship Type="http://schemas.openxmlformats.org/officeDocument/2006/relationships/notesSlide" Target="/ppt/notesSlides/notesSlide3.xml" Id="Rb15ced6f9a3f47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db54fe56dd94c29" /><Relationship Type="http://schemas.openxmlformats.org/officeDocument/2006/relationships/notesSlide" Target="/ppt/notesSlides/notesSlide4.xml" Id="R4f6bfe1310ae48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7d62ae1c5ca4682" /><Relationship Type="http://schemas.openxmlformats.org/officeDocument/2006/relationships/notesSlide" Target="/ppt/notesSlides/notesSlide5.xml" Id="Rf6ae4138647a4f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978eb4646d14c86" /><Relationship Type="http://schemas.openxmlformats.org/officeDocument/2006/relationships/notesSlide" Target="/ppt/notesSlides/notesSlide6.xml" Id="Rb2cc8b5672ae43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765917376cb4510" /><Relationship Type="http://schemas.openxmlformats.org/officeDocument/2006/relationships/notesSlide" Target="/ppt/notesSlides/notesSlide7.xml" Id="R1ebc64f826fe40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60b1056946d4f6b" /><Relationship Type="http://schemas.openxmlformats.org/officeDocument/2006/relationships/notesSlide" Target="/ppt/notesSlides/notesSlide8.xml" Id="R306e5894720a44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bb3a42ae1134a19" /><Relationship Type="http://schemas.openxmlformats.org/officeDocument/2006/relationships/notesSlide" Target="/ppt/notesSlides/notesSlide9.xml" Id="R208e416aab4f44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601834a016b47e6" /><Relationship Type="http://schemas.openxmlformats.org/officeDocument/2006/relationships/notesSlide" Target="/ppt/notesSlides/notesSlide10.xml" Id="R227dde4bf2ed45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f94ab89053c4dac" /><Relationship Type="http://schemas.openxmlformats.org/officeDocument/2006/relationships/notesSlide" Target="/ppt/notesSlides/notesSlide11.xml" Id="Raceaaf0df07c41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2ea0337a9e748dc" /><Relationship Type="http://schemas.openxmlformats.org/officeDocument/2006/relationships/image" Target="/ppt/media/image.png" Id="Rc1daf8af351a4e0a" /><Relationship Type="http://schemas.openxmlformats.org/officeDocument/2006/relationships/image" Target="/ppt/media/image2.png" Id="Rcb6d3732acfe428a" /><Relationship Type="http://schemas.openxmlformats.org/officeDocument/2006/relationships/notesSlide" Target="/ppt/notesSlides/notesSlide12.xml" Id="Rae22fdca2e1c40c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ebadda028864969" /><Relationship Type="http://schemas.openxmlformats.org/officeDocument/2006/relationships/notesSlide" Target="/ppt/notesSlides/notesSlide13.xml" Id="R6776db4796404d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49d40d8fea74848" /><Relationship Type="http://schemas.openxmlformats.org/officeDocument/2006/relationships/notesSlide" Target="/ppt/notesSlides/notesSlide14.xml" Id="Rea0881ddfb6d46a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ded0bd815ad4f14" /><Relationship Type="http://schemas.openxmlformats.org/officeDocument/2006/relationships/notesSlide" Target="/ppt/notesSlides/notesSlide15.xml" Id="R91328cde871f48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6a07f4fa9364212" /><Relationship Type="http://schemas.openxmlformats.org/officeDocument/2006/relationships/notesSlide" Target="/ppt/notesSlides/notesSlide16.xml" Id="Ref2969f44aaf4b2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02A54EB-8700-4101-8F6C-4F079B748ACA}"/>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Fais</a:t>
            </a:r>
          </a:p>
        </p:txBody>
      </p:sp>
      <p:sp>
        <p:nvSpPr>
          <p:cNvPr id="2" name="">
            <a:extLst xmlns:a="http://schemas.openxmlformats.org/drawingml/2006/main">
              <a:ext uri="{FF2B5EF4-FFF2-40B4-BE49-F238E27FC236}">
                <a16:creationId xmlns:a16="http://schemas.microsoft.com/office/drawing/2014/main" id="{54BD451B-4475-4509-A06B-CFFA0E0038BF}"/>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AE87EE18-0ABE-4733-9187-944BF131A98F}"/>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203E630-8E16-49A8-8DBE-5F55F15E2B22}"/>
              </a:ext>
            </a:extLst>
          </p:cNvPr>
          <p:cNvSpPr>
            <a:spLocks xmlns:a="http://schemas.openxmlformats.org/drawingml/2006/main" noGrp="1"/>
          </p:cNvSpPr>
          <p:nvPr/>
        </p:nvSpPr>
        <p:spPr>
          <a:xfrm xmlns:a="http://schemas.openxmlformats.org/drawingml/2006/main">
            <a:off x="714375" y="1495425"/>
            <a:ext cx="1028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675" b="1">
                <a:solidFill>
                  <a:srgbClr val="292D25"/>
                </a:solidFill>
                <a:latin typeface="Arial"/>
                <a:ea typeface="Arial"/>
                <a:cs typeface="Arial"/>
              </a:defRPr>
            </a:defPPr>
          </a:lstStyle>
          <a:p xmlns:a="http://schemas.openxmlformats.org/drawingml/2006/main">
            <a:pPr>
              <a:defRPr sz="3675" b="1">
                <a:solidFill>
                  <a:srgbClr val="292D25"/>
                </a:solidFill>
                <a:latin typeface="Arial"/>
                <a:ea typeface="Arial"/>
                <a:cs typeface="Arial"/>
              </a:defRPr>
            </a:pPr>
            <a:r>
              <a:rPr sz="3675" b="1">
                <a:solidFill>
                  <a:srgbClr val="292D25"/>
                </a:solidFill>
                <a:latin typeface="Arial"/>
                <a:ea typeface="Arial"/>
                <a:cs typeface="Arial"/>
              </a:rPr>
              <a:t>A Priority-Based To-Do</a:t>
            </a:r>
          </a:p>
          <a:p xmlns:a="http://schemas.openxmlformats.org/drawingml/2006/main">
            <a:pPr>
              <a:defRPr sz="3675" b="1">
                <a:solidFill>
                  <a:srgbClr val="292D25"/>
                </a:solidFill>
                <a:latin typeface="Arial"/>
                <a:ea typeface="Arial"/>
                <a:cs typeface="Arial"/>
              </a:defRPr>
            </a:pPr>
            <a:r>
              <a:rPr sz="3675" b="1">
                <a:solidFill>
                  <a:srgbClr val="292D25"/>
                </a:solidFill>
                <a:latin typeface="Arial"/>
                <a:ea typeface="Arial"/>
                <a:cs typeface="Arial"/>
              </a:rPr>
              <a:t>and Routine Planner</a:t>
            </a:r>
          </a:p>
        </p:txBody>
      </p:sp>
      <p:sp>
        <p:nvSpPr>
          <p:cNvPr id="5" name="">
            <a:extLst xmlns:a="http://schemas.openxmlformats.org/drawingml/2006/main">
              <a:ext uri="{FF2B5EF4-FFF2-40B4-BE49-F238E27FC236}">
                <a16:creationId xmlns:a16="http://schemas.microsoft.com/office/drawing/2014/main" id="{AE1F8394-C826-49AE-BFC9-DC15C96ECA72}"/>
              </a:ext>
            </a:extLst>
          </p:cNvPr>
          <p:cNvSpPr>
            <a:spLocks xmlns:a="http://schemas.openxmlformats.org/drawingml/2006/main" noGrp="1"/>
          </p:cNvSpPr>
          <p:nvPr/>
        </p:nvSpPr>
        <p:spPr>
          <a:xfrm xmlns:a="http://schemas.openxmlformats.org/drawingml/2006/main">
            <a:off x="762000" y="3619500"/>
            <a:ext cx="5334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292D25"/>
                </a:solidFill>
                <a:latin typeface="Arial"/>
                <a:ea typeface="Arial"/>
                <a:cs typeface="Arial"/>
              </a:defRPr>
            </a:defPPr>
          </a:lstStyle>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Student Names: [Names]</a:t>
            </a:r>
          </a:p>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Roll Numbers: [Roll Numbers]</a:t>
            </a:r>
          </a:p>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Guide Name: [Guide Name]</a:t>
            </a:r>
          </a:p>
        </p:txBody>
      </p:sp>
      <p:sp>
        <p:nvSpPr>
          <p:cNvPr id="6" name="">
            <a:extLst xmlns:a="http://schemas.openxmlformats.org/drawingml/2006/main">
              <a:ext uri="{FF2B5EF4-FFF2-40B4-BE49-F238E27FC236}">
                <a16:creationId xmlns:a16="http://schemas.microsoft.com/office/drawing/2014/main" id="{0B3BFFA4-C4C5-446D-B61C-1D41C6D3C2F7}"/>
              </a:ext>
            </a:extLst>
          </p:cNvPr>
          <p:cNvSpPr>
            <a:spLocks xmlns:a="http://schemas.openxmlformats.org/drawingml/2006/main" noGrp="1"/>
          </p:cNvSpPr>
          <p:nvPr/>
        </p:nvSpPr>
        <p:spPr>
          <a:xfrm xmlns:a="http://schemas.openxmlformats.org/drawingml/2006/main">
            <a:off x="6572250" y="361950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292D25"/>
                </a:solidFill>
                <a:latin typeface="Arial"/>
                <a:ea typeface="Arial"/>
                <a:cs typeface="Arial"/>
              </a:defRPr>
            </a:defPPr>
          </a:lstStyle>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Department: [Department]</a:t>
            </a:r>
          </a:p>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College Name: [College Name]</a:t>
            </a:r>
          </a:p>
        </p:txBody>
      </p:sp>
    </p:spTree>
    <p:extLst>
      <p:ext uri="{BB962C8B-B14F-4D97-AF65-F5344CB8AC3E}">
        <p14:creationId xmlns:p14="http://schemas.microsoft.com/office/powerpoint/2010/main" val="19181853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183C6D1-C6E2-45F0-ACF6-C377DF87E60A}"/>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8341A9D1-597B-44BD-9EF5-486E9DF2D9BA}"/>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8C4198F1-1AEC-4798-822B-B2CE3C1FA36B}"/>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F7CA2266-3A5D-495A-9E40-82A9AD7A502F}"/>
              </a:ext>
            </a:extLst>
          </p:cNvPr>
          <p:cNvSpPr>
            <a:spLocks xmlns:a="http://schemas.openxmlformats.org/drawingml/2006/main" noGrp="1"/>
          </p:cNvSpPr>
          <p:nvPr/>
        </p:nvSpPr>
        <p:spPr>
          <a:xfrm xmlns:a="http://schemas.openxmlformats.org/drawingml/2006/main">
            <a:off x="762000" y="195262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4B87F23-5FFE-4AC4-B09B-4716D4756785}"/>
              </a:ext>
            </a:extLst>
          </p:cNvPr>
          <p:cNvSpPr>
            <a:spLocks xmlns:a="http://schemas.openxmlformats.org/drawingml/2006/main" noGrp="1"/>
          </p:cNvSpPr>
          <p:nvPr/>
        </p:nvSpPr>
        <p:spPr>
          <a:xfrm xmlns:a="http://schemas.openxmlformats.org/drawingml/2006/main">
            <a:off x="1571625" y="176212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292D25"/>
                </a:solidFill>
                <a:latin typeface="Arial"/>
                <a:ea typeface="Arial"/>
                <a:cs typeface="Arial"/>
              </a:defRPr>
            </a:defPPr>
          </a:lstStyle>
          <a:p xmlns:a="http://schemas.openxmlformats.org/drawingml/2006/main">
            <a:pPr>
              <a:defRPr sz="2025" b="0">
                <a:solidFill>
                  <a:srgbClr val="292D25"/>
                </a:solidFill>
                <a:latin typeface="Arial"/>
                <a:ea typeface="Arial"/>
                <a:cs typeface="Arial"/>
              </a:defRPr>
            </a:pPr>
            <a:r>
              <a:rPr sz="2025" b="0">
                <a:solidFill>
                  <a:srgbClr val="292D25"/>
                </a:solidFill>
                <a:latin typeface="Arial"/>
                <a:ea typeface="Arial"/>
                <a:cs typeface="Arial"/>
              </a:rPr>
              <a:t>Daily planning includes both one-time tasks and repeating habits.</a:t>
            </a:r>
          </a:p>
        </p:txBody>
      </p:sp>
      <p:sp>
        <p:nvSpPr>
          <p:cNvPr id="6" name="">
            <a:extLst xmlns:a="http://schemas.openxmlformats.org/drawingml/2006/main">
              <a:ext uri="{FF2B5EF4-FFF2-40B4-BE49-F238E27FC236}">
                <a16:creationId xmlns:a16="http://schemas.microsoft.com/office/drawing/2014/main" id="{B3460078-72EB-46A0-9B85-DF2F494C0CE0}"/>
              </a:ext>
            </a:extLst>
          </p:cNvPr>
          <p:cNvSpPr>
            <a:spLocks xmlns:a="http://schemas.openxmlformats.org/drawingml/2006/main" noGrp="1"/>
          </p:cNvSpPr>
          <p:nvPr/>
        </p:nvSpPr>
        <p:spPr>
          <a:xfrm xmlns:a="http://schemas.openxmlformats.org/drawingml/2006/main">
            <a:off x="762000" y="292417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B3BE8BA-9CA4-425E-9734-BF96EE7ABADE}"/>
              </a:ext>
            </a:extLst>
          </p:cNvPr>
          <p:cNvSpPr>
            <a:spLocks xmlns:a="http://schemas.openxmlformats.org/drawingml/2006/main" noGrp="1"/>
          </p:cNvSpPr>
          <p:nvPr/>
        </p:nvSpPr>
        <p:spPr>
          <a:xfrm xmlns:a="http://schemas.openxmlformats.org/drawingml/2006/main">
            <a:off x="1571625" y="273367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292D25"/>
                </a:solidFill>
                <a:latin typeface="Arial"/>
                <a:ea typeface="Arial"/>
                <a:cs typeface="Arial"/>
              </a:defRPr>
            </a:defPPr>
          </a:lstStyle>
          <a:p xmlns:a="http://schemas.openxmlformats.org/drawingml/2006/main">
            <a:pPr>
              <a:defRPr sz="2025" b="0">
                <a:solidFill>
                  <a:srgbClr val="292D25"/>
                </a:solidFill>
                <a:latin typeface="Arial"/>
                <a:ea typeface="Arial"/>
                <a:cs typeface="Arial"/>
              </a:defRPr>
            </a:pPr>
            <a:r>
              <a:rPr sz="2025" b="0">
                <a:solidFill>
                  <a:srgbClr val="292D25"/>
                </a:solidFill>
                <a:latin typeface="Arial"/>
                <a:ea typeface="Arial"/>
                <a:cs typeface="Arial"/>
              </a:rPr>
              <a:t>Fais gives each user a private place to organize their day.</a:t>
            </a:r>
          </a:p>
        </p:txBody>
      </p:sp>
      <p:sp>
        <p:nvSpPr>
          <p:cNvPr id="8" name="">
            <a:extLst xmlns:a="http://schemas.openxmlformats.org/drawingml/2006/main">
              <a:ext uri="{FF2B5EF4-FFF2-40B4-BE49-F238E27FC236}">
                <a16:creationId xmlns:a16="http://schemas.microsoft.com/office/drawing/2014/main" id="{8302706B-A3B2-4DA3-9ABE-205C408EF3A4}"/>
              </a:ext>
            </a:extLst>
          </p:cNvPr>
          <p:cNvSpPr>
            <a:spLocks xmlns:a="http://schemas.openxmlformats.org/drawingml/2006/main" noGrp="1"/>
          </p:cNvSpPr>
          <p:nvPr/>
        </p:nvSpPr>
        <p:spPr>
          <a:xfrm xmlns:a="http://schemas.openxmlformats.org/drawingml/2006/main">
            <a:off x="762000" y="389572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F8F912EF-C853-4D57-A0E7-B6343EE7EE54}"/>
              </a:ext>
            </a:extLst>
          </p:cNvPr>
          <p:cNvSpPr>
            <a:spLocks xmlns:a="http://schemas.openxmlformats.org/drawingml/2006/main" noGrp="1"/>
          </p:cNvSpPr>
          <p:nvPr/>
        </p:nvSpPr>
        <p:spPr>
          <a:xfrm xmlns:a="http://schemas.openxmlformats.org/drawingml/2006/main">
            <a:off x="1571625" y="370522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292D25"/>
                </a:solidFill>
                <a:latin typeface="Arial"/>
                <a:ea typeface="Arial"/>
                <a:cs typeface="Arial"/>
              </a:defRPr>
            </a:defPPr>
          </a:lstStyle>
          <a:p xmlns:a="http://schemas.openxmlformats.org/drawingml/2006/main">
            <a:pPr>
              <a:defRPr sz="2025" b="0">
                <a:solidFill>
                  <a:srgbClr val="292D25"/>
                </a:solidFill>
                <a:latin typeface="Arial"/>
                <a:ea typeface="Arial"/>
                <a:cs typeface="Arial"/>
              </a:defRPr>
            </a:pPr>
            <a:r>
              <a:rPr sz="2025" b="0">
                <a:solidFill>
                  <a:srgbClr val="292D25"/>
                </a:solidFill>
                <a:latin typeface="Arial"/>
                <a:ea typeface="Arial"/>
                <a:cs typeface="Arial"/>
              </a:rPr>
              <a:t>A playful routine board and calendar make progress visible.</a:t>
            </a:r>
          </a:p>
        </p:txBody>
      </p:sp>
    </p:spTree>
    <p:extLst>
      <p:ext uri="{BB962C8B-B14F-4D97-AF65-F5344CB8AC3E}">
        <p14:creationId xmlns:p14="http://schemas.microsoft.com/office/powerpoint/2010/main" val="13748648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6EEC566-B87D-4FF3-BBBB-731C33094865}"/>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1BF0F1DD-B3AD-4DBF-AD62-E786326EE3C2}"/>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49166872-224D-41CA-9367-18E8D2CFEBFE}"/>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0DE85AE1-3D0F-4B9D-A523-A2C0AAC2632E}"/>
              </a:ext>
            </a:extLst>
          </p:cNvPr>
          <p:cNvSpPr>
            <a:spLocks xmlns:a="http://schemas.openxmlformats.org/drawingml/2006/main" noGrp="1"/>
          </p:cNvSpPr>
          <p:nvPr/>
        </p:nvSpPr>
        <p:spPr>
          <a:xfrm xmlns:a="http://schemas.openxmlformats.org/drawingml/2006/main">
            <a:off x="762000" y="195262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CFE8C42-4CE6-44DA-8F22-BB0BE47748FE}"/>
              </a:ext>
            </a:extLst>
          </p:cNvPr>
          <p:cNvSpPr>
            <a:spLocks xmlns:a="http://schemas.openxmlformats.org/drawingml/2006/main" noGrp="1"/>
          </p:cNvSpPr>
          <p:nvPr/>
        </p:nvSpPr>
        <p:spPr>
          <a:xfrm xmlns:a="http://schemas.openxmlformats.org/drawingml/2006/main">
            <a:off x="1571625" y="176212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Scattered notes make it easy to lose track of small commitments.</a:t>
            </a:r>
          </a:p>
        </p:txBody>
      </p:sp>
      <p:sp>
        <p:nvSpPr>
          <p:cNvPr id="6" name="">
            <a:extLst xmlns:a="http://schemas.openxmlformats.org/drawingml/2006/main">
              <a:ext uri="{FF2B5EF4-FFF2-40B4-BE49-F238E27FC236}">
                <a16:creationId xmlns:a16="http://schemas.microsoft.com/office/drawing/2014/main" id="{B8863656-C996-42CC-AB81-D72073EDD14E}"/>
              </a:ext>
            </a:extLst>
          </p:cNvPr>
          <p:cNvSpPr>
            <a:spLocks xmlns:a="http://schemas.openxmlformats.org/drawingml/2006/main" noGrp="1"/>
          </p:cNvSpPr>
          <p:nvPr/>
        </p:nvSpPr>
        <p:spPr>
          <a:xfrm xmlns:a="http://schemas.openxmlformats.org/drawingml/2006/main">
            <a:off x="762000" y="28575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21A605D-260F-448C-9C13-0AB7420667E5}"/>
              </a:ext>
            </a:extLst>
          </p:cNvPr>
          <p:cNvSpPr>
            <a:spLocks xmlns:a="http://schemas.openxmlformats.org/drawingml/2006/main" noGrp="1"/>
          </p:cNvSpPr>
          <p:nvPr/>
        </p:nvSpPr>
        <p:spPr>
          <a:xfrm xmlns:a="http://schemas.openxmlformats.org/drawingml/2006/main">
            <a:off x="1571625" y="266700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Unclear priorities make the next task difficult to choose.</a:t>
            </a:r>
          </a:p>
        </p:txBody>
      </p:sp>
      <p:sp>
        <p:nvSpPr>
          <p:cNvPr id="8" name="">
            <a:extLst xmlns:a="http://schemas.openxmlformats.org/drawingml/2006/main">
              <a:ext uri="{FF2B5EF4-FFF2-40B4-BE49-F238E27FC236}">
                <a16:creationId xmlns:a16="http://schemas.microsoft.com/office/drawing/2014/main" id="{D0F552D2-49D3-4DF6-AB2E-EB9B272419EF}"/>
              </a:ext>
            </a:extLst>
          </p:cNvPr>
          <p:cNvSpPr>
            <a:spLocks xmlns:a="http://schemas.openxmlformats.org/drawingml/2006/main" noGrp="1"/>
          </p:cNvSpPr>
          <p:nvPr/>
        </p:nvSpPr>
        <p:spPr>
          <a:xfrm xmlns:a="http://schemas.openxmlformats.org/drawingml/2006/main">
            <a:off x="762000" y="376237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4D698536-8853-45B0-8116-1E196D9C2DE1}"/>
              </a:ext>
            </a:extLst>
          </p:cNvPr>
          <p:cNvSpPr>
            <a:spLocks xmlns:a="http://schemas.openxmlformats.org/drawingml/2006/main" noGrp="1"/>
          </p:cNvSpPr>
          <p:nvPr/>
        </p:nvSpPr>
        <p:spPr>
          <a:xfrm xmlns:a="http://schemas.openxmlformats.org/drawingml/2006/main">
            <a:off x="1571625" y="357187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Repeated routines need date-specific tracking and a useful history.</a:t>
            </a:r>
          </a:p>
        </p:txBody>
      </p:sp>
      <p:sp>
        <p:nvSpPr>
          <p:cNvPr id="10" name="">
            <a:extLst xmlns:a="http://schemas.openxmlformats.org/drawingml/2006/main">
              <a:ext uri="{FF2B5EF4-FFF2-40B4-BE49-F238E27FC236}">
                <a16:creationId xmlns:a16="http://schemas.microsoft.com/office/drawing/2014/main" id="{C7F84265-4726-451C-821C-478350EB129B}"/>
              </a:ext>
            </a:extLst>
          </p:cNvPr>
          <p:cNvSpPr>
            <a:spLocks xmlns:a="http://schemas.openxmlformats.org/drawingml/2006/main" noGrp="1"/>
          </p:cNvSpPr>
          <p:nvPr/>
        </p:nvSpPr>
        <p:spPr>
          <a:xfrm xmlns:a="http://schemas.openxmlformats.org/drawingml/2006/main">
            <a:off x="762000" y="466725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9D7ABADB-8433-4D41-9E0A-A3D3454B5B05}"/>
              </a:ext>
            </a:extLst>
          </p:cNvPr>
          <p:cNvSpPr>
            <a:spLocks xmlns:a="http://schemas.openxmlformats.org/drawingml/2006/main" noGrp="1"/>
          </p:cNvSpPr>
          <p:nvPr/>
        </p:nvSpPr>
        <p:spPr>
          <a:xfrm xmlns:a="http://schemas.openxmlformats.org/drawingml/2006/main">
            <a:off x="1571625" y="447675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A task list alone offers limited visibility into daily consistency.</a:t>
            </a:r>
          </a:p>
        </p:txBody>
      </p:sp>
    </p:spTree>
    <p:extLst>
      <p:ext uri="{BB962C8B-B14F-4D97-AF65-F5344CB8AC3E}">
        <p14:creationId xmlns:p14="http://schemas.microsoft.com/office/powerpoint/2010/main" val="7030843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19D6768-D99B-4CB6-A75C-EBD1FCCF0C7B}"/>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Objectives of the Project</a:t>
            </a:r>
          </a:p>
        </p:txBody>
      </p:sp>
      <p:sp>
        <p:nvSpPr>
          <p:cNvPr id="2" name="">
            <a:extLst xmlns:a="http://schemas.openxmlformats.org/drawingml/2006/main">
              <a:ext uri="{FF2B5EF4-FFF2-40B4-BE49-F238E27FC236}">
                <a16:creationId xmlns:a16="http://schemas.microsoft.com/office/drawing/2014/main" id="{C631BF20-44F6-4BEB-B61E-5EBF440F2310}"/>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077240BE-26BF-431F-9234-E609AA02A11D}"/>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89E1215A-284A-4397-BD9D-88559F60C271}"/>
              </a:ext>
            </a:extLst>
          </p:cNvPr>
          <p:cNvSpPr>
            <a:spLocks xmlns:a="http://schemas.openxmlformats.org/drawingml/2006/main" noGrp="1"/>
          </p:cNvSpPr>
          <p:nvPr/>
        </p:nvSpPr>
        <p:spPr>
          <a:xfrm xmlns:a="http://schemas.openxmlformats.org/drawingml/2006/main">
            <a:off x="762000" y="195262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0377DC5-2BDF-424A-BCA5-0234D1B89500}"/>
              </a:ext>
            </a:extLst>
          </p:cNvPr>
          <p:cNvSpPr>
            <a:spLocks xmlns:a="http://schemas.openxmlformats.org/drawingml/2006/main" noGrp="1"/>
          </p:cNvSpPr>
          <p:nvPr/>
        </p:nvSpPr>
        <p:spPr>
          <a:xfrm xmlns:a="http://schemas.openxmlformats.org/drawingml/2006/main">
            <a:off x="1571625" y="176212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Organize tasks with clear priorities, deadlines, and status.</a:t>
            </a:r>
          </a:p>
        </p:txBody>
      </p:sp>
      <p:sp>
        <p:nvSpPr>
          <p:cNvPr id="6" name="">
            <a:extLst xmlns:a="http://schemas.openxmlformats.org/drawingml/2006/main">
              <a:ext uri="{FF2B5EF4-FFF2-40B4-BE49-F238E27FC236}">
                <a16:creationId xmlns:a16="http://schemas.microsoft.com/office/drawing/2014/main" id="{3B1AFBAB-1BE1-4B22-B273-FCC22DEFB519}"/>
              </a:ext>
            </a:extLst>
          </p:cNvPr>
          <p:cNvSpPr>
            <a:spLocks xmlns:a="http://schemas.openxmlformats.org/drawingml/2006/main" noGrp="1"/>
          </p:cNvSpPr>
          <p:nvPr/>
        </p:nvSpPr>
        <p:spPr>
          <a:xfrm xmlns:a="http://schemas.openxmlformats.org/drawingml/2006/main">
            <a:off x="762000" y="28575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658ABF3-16D3-4B5A-8E5D-911B39FE1E1A}"/>
              </a:ext>
            </a:extLst>
          </p:cNvPr>
          <p:cNvSpPr>
            <a:spLocks xmlns:a="http://schemas.openxmlformats.org/drawingml/2006/main" noGrp="1"/>
          </p:cNvSpPr>
          <p:nvPr/>
        </p:nvSpPr>
        <p:spPr>
          <a:xfrm xmlns:a="http://schemas.openxmlformats.org/drawingml/2006/main">
            <a:off x="1571625" y="266700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Track repeating routines without losing earlier completion records.</a:t>
            </a:r>
          </a:p>
        </p:txBody>
      </p:sp>
      <p:sp>
        <p:nvSpPr>
          <p:cNvPr id="8" name="">
            <a:extLst xmlns:a="http://schemas.openxmlformats.org/drawingml/2006/main">
              <a:ext uri="{FF2B5EF4-FFF2-40B4-BE49-F238E27FC236}">
                <a16:creationId xmlns:a16="http://schemas.microsoft.com/office/drawing/2014/main" id="{B2C98D1A-2145-4595-B911-968FB23CF2DA}"/>
              </a:ext>
            </a:extLst>
          </p:cNvPr>
          <p:cNvSpPr>
            <a:spLocks xmlns:a="http://schemas.openxmlformats.org/drawingml/2006/main" noGrp="1"/>
          </p:cNvSpPr>
          <p:nvPr/>
        </p:nvSpPr>
        <p:spPr>
          <a:xfrm xmlns:a="http://schemas.openxmlformats.org/drawingml/2006/main">
            <a:off x="762000" y="376237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66EEEC37-0990-45E2-B748-1A0E041D54EF}"/>
              </a:ext>
            </a:extLst>
          </p:cNvPr>
          <p:cNvSpPr>
            <a:spLocks xmlns:a="http://schemas.openxmlformats.org/drawingml/2006/main" noGrp="1"/>
          </p:cNvSpPr>
          <p:nvPr/>
        </p:nvSpPr>
        <p:spPr>
          <a:xfrm xmlns:a="http://schemas.openxmlformats.org/drawingml/2006/main">
            <a:off x="1571625" y="357187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Restore saved data across refreshes and authenticated sessions.</a:t>
            </a:r>
          </a:p>
        </p:txBody>
      </p:sp>
      <p:sp>
        <p:nvSpPr>
          <p:cNvPr id="10" name="">
            <a:extLst xmlns:a="http://schemas.openxmlformats.org/drawingml/2006/main">
              <a:ext uri="{FF2B5EF4-FFF2-40B4-BE49-F238E27FC236}">
                <a16:creationId xmlns:a16="http://schemas.microsoft.com/office/drawing/2014/main" id="{BD777D50-6C7C-4674-A690-DC4159147935}"/>
              </a:ext>
            </a:extLst>
          </p:cNvPr>
          <p:cNvSpPr>
            <a:spLocks xmlns:a="http://schemas.openxmlformats.org/drawingml/2006/main" noGrp="1"/>
          </p:cNvSpPr>
          <p:nvPr/>
        </p:nvSpPr>
        <p:spPr>
          <a:xfrm xmlns:a="http://schemas.openxmlformats.org/drawingml/2006/main">
            <a:off x="762000" y="466725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5AEF8181-04D4-4074-826E-ACE73AE7BBF9}"/>
              </a:ext>
            </a:extLst>
          </p:cNvPr>
          <p:cNvSpPr>
            <a:spLocks xmlns:a="http://schemas.openxmlformats.org/drawingml/2006/main" noGrp="1"/>
          </p:cNvSpPr>
          <p:nvPr/>
        </p:nvSpPr>
        <p:spPr>
          <a:xfrm xmlns:a="http://schemas.openxmlformats.org/drawingml/2006/main">
            <a:off x="1571625" y="447675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Support desktop and mobile access with visible progress.</a:t>
            </a:r>
          </a:p>
        </p:txBody>
      </p:sp>
    </p:spTree>
    <p:extLst>
      <p:ext uri="{BB962C8B-B14F-4D97-AF65-F5344CB8AC3E}">
        <p14:creationId xmlns:p14="http://schemas.microsoft.com/office/powerpoint/2010/main" val="11556263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96FEA8-5691-4E61-81AC-8C428F26ED35}"/>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Scope of the Project</a:t>
            </a:r>
          </a:p>
        </p:txBody>
      </p:sp>
      <p:sp>
        <p:nvSpPr>
          <p:cNvPr id="2" name="">
            <a:extLst xmlns:a="http://schemas.openxmlformats.org/drawingml/2006/main">
              <a:ext uri="{FF2B5EF4-FFF2-40B4-BE49-F238E27FC236}">
                <a16:creationId xmlns:a16="http://schemas.microsoft.com/office/drawing/2014/main" id="{3D370CFD-5A3A-477B-A6D6-679776212652}"/>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E006B17F-A2AC-493D-BAC7-7B503F257059}"/>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4C5E8EAB-E6BE-4943-B03B-DE8AB87A14E7}"/>
              </a:ext>
            </a:extLst>
          </p:cNvPr>
          <p:cNvSpPr>
            <a:spLocks xmlns:a="http://schemas.openxmlformats.org/drawingml/2006/main" noGrp="1"/>
          </p:cNvSpPr>
          <p:nvPr/>
        </p:nvSpPr>
        <p:spPr>
          <a:xfrm xmlns:a="http://schemas.openxmlformats.org/drawingml/2006/main">
            <a:off x="762000" y="195262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9E5D09B-F46A-402C-AE8D-21495985218E}"/>
              </a:ext>
            </a:extLst>
          </p:cNvPr>
          <p:cNvSpPr>
            <a:spLocks xmlns:a="http://schemas.openxmlformats.org/drawingml/2006/main" noGrp="1"/>
          </p:cNvSpPr>
          <p:nvPr/>
        </p:nvSpPr>
        <p:spPr>
          <a:xfrm xmlns:a="http://schemas.openxmlformats.org/drawingml/2006/main">
            <a:off x="1571625" y="176212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Implemented: personal accounts, task CRUD, priorities, and search.</a:t>
            </a:r>
          </a:p>
        </p:txBody>
      </p:sp>
      <p:sp>
        <p:nvSpPr>
          <p:cNvPr id="6" name="">
            <a:extLst xmlns:a="http://schemas.openxmlformats.org/drawingml/2006/main">
              <a:ext uri="{FF2B5EF4-FFF2-40B4-BE49-F238E27FC236}">
                <a16:creationId xmlns:a16="http://schemas.microsoft.com/office/drawing/2014/main" id="{BDBA8401-EBAB-4F69-AD32-ADF3C4807D9B}"/>
              </a:ext>
            </a:extLst>
          </p:cNvPr>
          <p:cNvSpPr>
            <a:spLocks xmlns:a="http://schemas.openxmlformats.org/drawingml/2006/main" noGrp="1"/>
          </p:cNvSpPr>
          <p:nvPr/>
        </p:nvSpPr>
        <p:spPr>
          <a:xfrm xmlns:a="http://schemas.openxmlformats.org/drawingml/2006/main">
            <a:off x="762000" y="28575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EA25BF2-EBAC-43AC-874E-6F621637BFCD}"/>
              </a:ext>
            </a:extLst>
          </p:cNvPr>
          <p:cNvSpPr>
            <a:spLocks xmlns:a="http://schemas.openxmlformats.org/drawingml/2006/main" noGrp="1"/>
          </p:cNvSpPr>
          <p:nvPr/>
        </p:nvSpPr>
        <p:spPr>
          <a:xfrm xmlns:a="http://schemas.openxmlformats.org/drawingml/2006/main">
            <a:off x="1571625" y="266700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Implemented: routines, calendars, statistics, activity, and settings.</a:t>
            </a:r>
          </a:p>
        </p:txBody>
      </p:sp>
      <p:sp>
        <p:nvSpPr>
          <p:cNvPr id="8" name="">
            <a:extLst xmlns:a="http://schemas.openxmlformats.org/drawingml/2006/main">
              <a:ext uri="{FF2B5EF4-FFF2-40B4-BE49-F238E27FC236}">
                <a16:creationId xmlns:a16="http://schemas.microsoft.com/office/drawing/2014/main" id="{77D74E95-9EDF-40AB-88D4-79E6D37B50D7}"/>
              </a:ext>
            </a:extLst>
          </p:cNvPr>
          <p:cNvSpPr>
            <a:spLocks xmlns:a="http://schemas.openxmlformats.org/drawingml/2006/main" noGrp="1"/>
          </p:cNvSpPr>
          <p:nvPr/>
        </p:nvSpPr>
        <p:spPr>
          <a:xfrm xmlns:a="http://schemas.openxmlformats.org/drawingml/2006/main">
            <a:off x="762000" y="376237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B69B367E-3018-4CF3-A960-5E05B40A1C1D}"/>
              </a:ext>
            </a:extLst>
          </p:cNvPr>
          <p:cNvSpPr>
            <a:spLocks xmlns:a="http://schemas.openxmlformats.org/drawingml/2006/main" noGrp="1"/>
          </p:cNvSpPr>
          <p:nvPr/>
        </p:nvSpPr>
        <p:spPr>
          <a:xfrm xmlns:a="http://schemas.openxmlformats.org/drawingml/2006/main">
            <a:off x="1571625" y="357187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Implemented: autosave, retries, and responsive web navigation.</a:t>
            </a:r>
          </a:p>
        </p:txBody>
      </p:sp>
      <p:sp>
        <p:nvSpPr>
          <p:cNvPr id="10" name="">
            <a:extLst xmlns:a="http://schemas.openxmlformats.org/drawingml/2006/main">
              <a:ext uri="{FF2B5EF4-FFF2-40B4-BE49-F238E27FC236}">
                <a16:creationId xmlns:a16="http://schemas.microsoft.com/office/drawing/2014/main" id="{E4C24D82-804C-4DA1-89C9-A720103B6D08}"/>
              </a:ext>
            </a:extLst>
          </p:cNvPr>
          <p:cNvSpPr>
            <a:spLocks xmlns:a="http://schemas.openxmlformats.org/drawingml/2006/main" noGrp="1"/>
          </p:cNvSpPr>
          <p:nvPr/>
        </p:nvSpPr>
        <p:spPr>
          <a:xfrm xmlns:a="http://schemas.openxmlformats.org/drawingml/2006/main">
            <a:off x="762000" y="466725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1D8A13D1-D7DE-4E89-A44D-072DB2A89576}"/>
              </a:ext>
            </a:extLst>
          </p:cNvPr>
          <p:cNvSpPr>
            <a:spLocks xmlns:a="http://schemas.openxmlformats.org/drawingml/2006/main" noGrp="1"/>
          </p:cNvSpPr>
          <p:nvPr/>
        </p:nvSpPr>
        <p:spPr>
          <a:xfrm xmlns:a="http://schemas.openxmlformats.org/drawingml/2006/main">
            <a:off x="1571625" y="447675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Excluded: Android app, notifications, offline sync, teams, and mood journal.</a:t>
            </a:r>
          </a:p>
        </p:txBody>
      </p:sp>
    </p:spTree>
    <p:extLst>
      <p:ext uri="{BB962C8B-B14F-4D97-AF65-F5344CB8AC3E}">
        <p14:creationId xmlns:p14="http://schemas.microsoft.com/office/powerpoint/2010/main" val="14651441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F054675-EFAC-424C-B1F1-BFE699EA675B}"/>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Existing System</a:t>
            </a:r>
          </a:p>
        </p:txBody>
      </p:sp>
      <p:sp>
        <p:nvSpPr>
          <p:cNvPr id="2" name="">
            <a:extLst xmlns:a="http://schemas.openxmlformats.org/drawingml/2006/main">
              <a:ext uri="{FF2B5EF4-FFF2-40B4-BE49-F238E27FC236}">
                <a16:creationId xmlns:a16="http://schemas.microsoft.com/office/drawing/2014/main" id="{B196CAC6-B63A-4AB7-8212-91C00FAB1087}"/>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48B7EA2E-E074-4C05-AB8B-6962B332CE7B}"/>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632EA484-0D7C-4602-87E2-03B28191B90C}"/>
              </a:ext>
            </a:extLst>
          </p:cNvPr>
          <p:cNvSpPr>
            <a:spLocks xmlns:a="http://schemas.openxmlformats.org/drawingml/2006/main" noGrp="1"/>
          </p:cNvSpPr>
          <p:nvPr/>
        </p:nvSpPr>
        <p:spPr>
          <a:xfrm xmlns:a="http://schemas.openxmlformats.org/drawingml/2006/main">
            <a:off x="762000" y="195262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A61EBD5-C877-4B46-B2B1-C114D4B379E2}"/>
              </a:ext>
            </a:extLst>
          </p:cNvPr>
          <p:cNvSpPr>
            <a:spLocks xmlns:a="http://schemas.openxmlformats.org/drawingml/2006/main" noGrp="1"/>
          </p:cNvSpPr>
          <p:nvPr/>
        </p:nvSpPr>
        <p:spPr>
          <a:xfrm xmlns:a="http://schemas.openxmlformats.org/drawingml/2006/main">
            <a:off x="1571625" y="176212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Paper lists provide a simple record, but updates and summaries are manual.</a:t>
            </a:r>
          </a:p>
        </p:txBody>
      </p:sp>
      <p:sp>
        <p:nvSpPr>
          <p:cNvPr id="6" name="">
            <a:extLst xmlns:a="http://schemas.openxmlformats.org/drawingml/2006/main">
              <a:ext uri="{FF2B5EF4-FFF2-40B4-BE49-F238E27FC236}">
                <a16:creationId xmlns:a16="http://schemas.microsoft.com/office/drawing/2014/main" id="{9554FA1F-CAE4-4EC9-9EBF-C78D7B329EE8}"/>
              </a:ext>
            </a:extLst>
          </p:cNvPr>
          <p:cNvSpPr>
            <a:spLocks xmlns:a="http://schemas.openxmlformats.org/drawingml/2006/main" noGrp="1"/>
          </p:cNvSpPr>
          <p:nvPr/>
        </p:nvSpPr>
        <p:spPr>
          <a:xfrm xmlns:a="http://schemas.openxmlformats.org/drawingml/2006/main">
            <a:off x="762000" y="28575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93A96816-BE68-4468-9825-4D21E674A3D2}"/>
              </a:ext>
            </a:extLst>
          </p:cNvPr>
          <p:cNvSpPr>
            <a:spLocks xmlns:a="http://schemas.openxmlformats.org/drawingml/2006/main" noGrp="1"/>
          </p:cNvSpPr>
          <p:nvPr/>
        </p:nvSpPr>
        <p:spPr>
          <a:xfrm xmlns:a="http://schemas.openxmlformats.org/drawingml/2006/main">
            <a:off x="1571625" y="266700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Basic digital lists organize items but vary in recurring-task support.</a:t>
            </a:r>
          </a:p>
        </p:txBody>
      </p:sp>
      <p:sp>
        <p:nvSpPr>
          <p:cNvPr id="8" name="">
            <a:extLst xmlns:a="http://schemas.openxmlformats.org/drawingml/2006/main">
              <a:ext uri="{FF2B5EF4-FFF2-40B4-BE49-F238E27FC236}">
                <a16:creationId xmlns:a16="http://schemas.microsoft.com/office/drawing/2014/main" id="{94B72B3A-82D1-4323-ACBD-026323F99885}"/>
              </a:ext>
            </a:extLst>
          </p:cNvPr>
          <p:cNvSpPr>
            <a:spLocks xmlns:a="http://schemas.openxmlformats.org/drawingml/2006/main" noGrp="1"/>
          </p:cNvSpPr>
          <p:nvPr/>
        </p:nvSpPr>
        <p:spPr>
          <a:xfrm xmlns:a="http://schemas.openxmlformats.org/drawingml/2006/main">
            <a:off x="762000" y="376237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EE538C87-6542-4684-A14F-5DECF34C3DA2}"/>
              </a:ext>
            </a:extLst>
          </p:cNvPr>
          <p:cNvSpPr>
            <a:spLocks xmlns:a="http://schemas.openxmlformats.org/drawingml/2006/main" noGrp="1"/>
          </p:cNvSpPr>
          <p:nvPr/>
        </p:nvSpPr>
        <p:spPr>
          <a:xfrm xmlns:a="http://schemas.openxmlformats.org/drawingml/2006/main">
            <a:off x="1571625" y="357187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Modern planners already offer many advanced planning features.</a:t>
            </a:r>
          </a:p>
        </p:txBody>
      </p:sp>
      <p:sp>
        <p:nvSpPr>
          <p:cNvPr id="10" name="">
            <a:extLst xmlns:a="http://schemas.openxmlformats.org/drawingml/2006/main">
              <a:ext uri="{FF2B5EF4-FFF2-40B4-BE49-F238E27FC236}">
                <a16:creationId xmlns:a16="http://schemas.microsoft.com/office/drawing/2014/main" id="{123B7101-0638-4186-83A4-6491D1D2D7B8}"/>
              </a:ext>
            </a:extLst>
          </p:cNvPr>
          <p:cNvSpPr>
            <a:spLocks xmlns:a="http://schemas.openxmlformats.org/drawingml/2006/main" noGrp="1"/>
          </p:cNvSpPr>
          <p:nvPr/>
        </p:nvSpPr>
        <p:spPr>
          <a:xfrm xmlns:a="http://schemas.openxmlformats.org/drawingml/2006/main">
            <a:off x="762000" y="466725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C671D2A8-9D0C-4347-AF89-7FAD0F34077E}"/>
              </a:ext>
            </a:extLst>
          </p:cNvPr>
          <p:cNvSpPr>
            <a:spLocks xmlns:a="http://schemas.openxmlformats.org/drawingml/2006/main" noGrp="1"/>
          </p:cNvSpPr>
          <p:nvPr/>
        </p:nvSpPr>
        <p:spPr>
          <a:xfrm xmlns:a="http://schemas.openxmlformats.org/drawingml/2006/main">
            <a:off x="1571625" y="447675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Fais focuses on a coherent personal workflow and explainable MERN design.</a:t>
            </a:r>
          </a:p>
        </p:txBody>
      </p:sp>
    </p:spTree>
    <p:extLst>
      <p:ext uri="{BB962C8B-B14F-4D97-AF65-F5344CB8AC3E}">
        <p14:creationId xmlns:p14="http://schemas.microsoft.com/office/powerpoint/2010/main" val="1961352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927E005-5459-416B-99B8-77DF9C224574}"/>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Proposed System</a:t>
            </a:r>
          </a:p>
        </p:txBody>
      </p:sp>
      <p:sp>
        <p:nvSpPr>
          <p:cNvPr id="2" name="">
            <a:extLst xmlns:a="http://schemas.openxmlformats.org/drawingml/2006/main">
              <a:ext uri="{FF2B5EF4-FFF2-40B4-BE49-F238E27FC236}">
                <a16:creationId xmlns:a16="http://schemas.microsoft.com/office/drawing/2014/main" id="{D81C035C-325D-4938-8E85-3E7B31D7BA9A}"/>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BD909E42-412A-4DA1-8472-424EE726F20D}"/>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139BD7B1-8725-4C4C-A4E9-18DAD1235AED}"/>
              </a:ext>
            </a:extLst>
          </p:cNvPr>
          <p:cNvSpPr>
            <a:spLocks xmlns:a="http://schemas.openxmlformats.org/drawingml/2006/main" noGrp="1"/>
          </p:cNvSpPr>
          <p:nvPr/>
        </p:nvSpPr>
        <p:spPr>
          <a:xfrm xmlns:a="http://schemas.openxmlformats.org/drawingml/2006/main">
            <a:off x="762000" y="195262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B88677E-51E2-4983-9777-E4F1276C4261}"/>
              </a:ext>
            </a:extLst>
          </p:cNvPr>
          <p:cNvSpPr>
            <a:spLocks xmlns:a="http://schemas.openxmlformats.org/drawingml/2006/main" noGrp="1"/>
          </p:cNvSpPr>
          <p:nvPr/>
        </p:nvSpPr>
        <p:spPr>
          <a:xfrm xmlns:a="http://schemas.openxmlformats.org/drawingml/2006/main">
            <a:off x="1571625" y="176212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A user signs in to a MongoDB-backed session.</a:t>
            </a:r>
          </a:p>
        </p:txBody>
      </p:sp>
      <p:sp>
        <p:nvSpPr>
          <p:cNvPr id="6" name="">
            <a:extLst xmlns:a="http://schemas.openxmlformats.org/drawingml/2006/main">
              <a:ext uri="{FF2B5EF4-FFF2-40B4-BE49-F238E27FC236}">
                <a16:creationId xmlns:a16="http://schemas.microsoft.com/office/drawing/2014/main" id="{0872C657-630E-4DFD-9D2F-DFF699130EC1}"/>
              </a:ext>
            </a:extLst>
          </p:cNvPr>
          <p:cNvSpPr>
            <a:spLocks xmlns:a="http://schemas.openxmlformats.org/drawingml/2006/main" noGrp="1"/>
          </p:cNvSpPr>
          <p:nvPr/>
        </p:nvSpPr>
        <p:spPr>
          <a:xfrm xmlns:a="http://schemas.openxmlformats.org/drawingml/2006/main">
            <a:off x="762000" y="28575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700BBD9-6B24-4E80-AB82-ECD29AE524EE}"/>
              </a:ext>
            </a:extLst>
          </p:cNvPr>
          <p:cNvSpPr>
            <a:spLocks xmlns:a="http://schemas.openxmlformats.org/drawingml/2006/main" noGrp="1"/>
          </p:cNvSpPr>
          <p:nvPr/>
        </p:nvSpPr>
        <p:spPr>
          <a:xfrm xmlns:a="http://schemas.openxmlformats.org/drawingml/2006/main">
            <a:off x="1571625" y="266700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Tasks use High, Medium, and Low priority with deadline ordering.</a:t>
            </a:r>
          </a:p>
        </p:txBody>
      </p:sp>
      <p:sp>
        <p:nvSpPr>
          <p:cNvPr id="8" name="">
            <a:extLst xmlns:a="http://schemas.openxmlformats.org/drawingml/2006/main">
              <a:ext uri="{FF2B5EF4-FFF2-40B4-BE49-F238E27FC236}">
                <a16:creationId xmlns:a16="http://schemas.microsoft.com/office/drawing/2014/main" id="{F9C10AF3-907C-4638-A41A-20CDD2ECDB7B}"/>
              </a:ext>
            </a:extLst>
          </p:cNvPr>
          <p:cNvSpPr>
            <a:spLocks xmlns:a="http://schemas.openxmlformats.org/drawingml/2006/main" noGrp="1"/>
          </p:cNvSpPr>
          <p:nvPr/>
        </p:nvSpPr>
        <p:spPr>
          <a:xfrm xmlns:a="http://schemas.openxmlformats.org/drawingml/2006/main">
            <a:off x="762000" y="376237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C0EFC789-1A26-4DAE-9CDB-A7A7CE32BBF2}"/>
              </a:ext>
            </a:extLst>
          </p:cNvPr>
          <p:cNvSpPr>
            <a:spLocks xmlns:a="http://schemas.openxmlformats.org/drawingml/2006/main" noGrp="1"/>
          </p:cNvSpPr>
          <p:nvPr/>
        </p:nvSpPr>
        <p:spPr>
          <a:xfrm xmlns:a="http://schemas.openxmlformats.org/drawingml/2006/main">
            <a:off x="1571625" y="357187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Routine check-ins belong to one routine and one local calendar date.</a:t>
            </a:r>
          </a:p>
        </p:txBody>
      </p:sp>
      <p:sp>
        <p:nvSpPr>
          <p:cNvPr id="10" name="">
            <a:extLst xmlns:a="http://schemas.openxmlformats.org/drawingml/2006/main">
              <a:ext uri="{FF2B5EF4-FFF2-40B4-BE49-F238E27FC236}">
                <a16:creationId xmlns:a16="http://schemas.microsoft.com/office/drawing/2014/main" id="{F25E5157-7B09-4CF6-8B42-2A2B591BC82D}"/>
              </a:ext>
            </a:extLst>
          </p:cNvPr>
          <p:cNvSpPr>
            <a:spLocks xmlns:a="http://schemas.openxmlformats.org/drawingml/2006/main" noGrp="1"/>
          </p:cNvSpPr>
          <p:nvPr/>
        </p:nvSpPr>
        <p:spPr>
          <a:xfrm xmlns:a="http://schemas.openxmlformats.org/drawingml/2006/main">
            <a:off x="762000" y="466725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731A5CCB-27B6-4881-9D22-243DFD40E31C}"/>
              </a:ext>
            </a:extLst>
          </p:cNvPr>
          <p:cNvSpPr>
            <a:spLocks xmlns:a="http://schemas.openxmlformats.org/drawingml/2006/main" noGrp="1"/>
          </p:cNvSpPr>
          <p:nvPr/>
        </p:nvSpPr>
        <p:spPr>
          <a:xfrm xmlns:a="http://schemas.openxmlformats.org/drawingml/2006/main">
            <a:off x="1571625" y="447675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Calendar, statistics, and activity read persisted records.</a:t>
            </a:r>
          </a:p>
        </p:txBody>
      </p:sp>
    </p:spTree>
    <p:extLst>
      <p:ext uri="{BB962C8B-B14F-4D97-AF65-F5344CB8AC3E}">
        <p14:creationId xmlns:p14="http://schemas.microsoft.com/office/powerpoint/2010/main" val="17821044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0B7F7CB-9E9E-4057-9A7E-980CE47AE18B}"/>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Hardware and Software Requirements</a:t>
            </a:r>
          </a:p>
        </p:txBody>
      </p:sp>
      <p:sp>
        <p:nvSpPr>
          <p:cNvPr id="2" name="">
            <a:extLst xmlns:a="http://schemas.openxmlformats.org/drawingml/2006/main">
              <a:ext uri="{FF2B5EF4-FFF2-40B4-BE49-F238E27FC236}">
                <a16:creationId xmlns:a16="http://schemas.microsoft.com/office/drawing/2014/main" id="{45B0BE90-9930-4B92-A6DB-2365D5B6529E}"/>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6A3EA0D2-B71A-4621-B86A-2A024897A1C6}"/>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B2102E17-49D6-4A07-AD2C-BC16EDA816D3}"/>
              </a:ext>
            </a:extLst>
          </p:cNvPr>
          <p:cNvSpPr>
            <a:spLocks xmlns:a="http://schemas.openxmlformats.org/drawingml/2006/main" noGrp="1"/>
          </p:cNvSpPr>
          <p:nvPr/>
        </p:nvSpPr>
        <p:spPr>
          <a:xfrm xmlns:a="http://schemas.openxmlformats.org/drawingml/2006/main">
            <a:off x="762000" y="195262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D08C4DF-62D5-40F4-9E4F-E4A45D332519}"/>
              </a:ext>
            </a:extLst>
          </p:cNvPr>
          <p:cNvSpPr>
            <a:spLocks xmlns:a="http://schemas.openxmlformats.org/drawingml/2006/main" noGrp="1"/>
          </p:cNvSpPr>
          <p:nvPr/>
        </p:nvSpPr>
        <p:spPr>
          <a:xfrm xmlns:a="http://schemas.openxmlformats.org/drawingml/2006/main">
            <a:off x="1571625" y="176212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Verified environment: Apple Silicon Mac, macOS 26.6.2, Node 24.14.0, npm 11.9.0.</a:t>
            </a:r>
          </a:p>
        </p:txBody>
      </p:sp>
      <p:sp>
        <p:nvSpPr>
          <p:cNvPr id="6" name="">
            <a:extLst xmlns:a="http://schemas.openxmlformats.org/drawingml/2006/main">
              <a:ext uri="{FF2B5EF4-FFF2-40B4-BE49-F238E27FC236}">
                <a16:creationId xmlns:a16="http://schemas.microsoft.com/office/drawing/2014/main" id="{DEDD128F-627C-4BB7-9B86-1909CC4BAA07}"/>
              </a:ext>
            </a:extLst>
          </p:cNvPr>
          <p:cNvSpPr>
            <a:spLocks xmlns:a="http://schemas.openxmlformats.org/drawingml/2006/main" noGrp="1"/>
          </p:cNvSpPr>
          <p:nvPr/>
        </p:nvSpPr>
        <p:spPr>
          <a:xfrm xmlns:a="http://schemas.openxmlformats.org/drawingml/2006/main">
            <a:off x="762000" y="28575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4AE095EA-C31A-45D9-885A-3656FB1BE462}"/>
              </a:ext>
            </a:extLst>
          </p:cNvPr>
          <p:cNvSpPr>
            <a:spLocks xmlns:a="http://schemas.openxmlformats.org/drawingml/2006/main" noGrp="1"/>
          </p:cNvSpPr>
          <p:nvPr/>
        </p:nvSpPr>
        <p:spPr>
          <a:xfrm xmlns:a="http://schemas.openxmlformats.org/drawingml/2006/main">
            <a:off x="1571625" y="266700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Required software: MongoDB 8.0, Git, a modern browser, and project dependencies.</a:t>
            </a:r>
          </a:p>
        </p:txBody>
      </p:sp>
      <p:sp>
        <p:nvSpPr>
          <p:cNvPr id="8" name="">
            <a:extLst xmlns:a="http://schemas.openxmlformats.org/drawingml/2006/main">
              <a:ext uri="{FF2B5EF4-FFF2-40B4-BE49-F238E27FC236}">
                <a16:creationId xmlns:a16="http://schemas.microsoft.com/office/drawing/2014/main" id="{D3B6A528-3FDD-4D78-9928-821B5B5DD1E1}"/>
              </a:ext>
            </a:extLst>
          </p:cNvPr>
          <p:cNvSpPr>
            <a:spLocks xmlns:a="http://schemas.openxmlformats.org/drawingml/2006/main" noGrp="1"/>
          </p:cNvSpPr>
          <p:nvPr/>
        </p:nvSpPr>
        <p:spPr>
          <a:xfrm xmlns:a="http://schemas.openxmlformats.org/drawingml/2006/main">
            <a:off x="762000" y="376237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626ED2D3-892C-4FE7-803A-BA9A2FD1E401}"/>
              </a:ext>
            </a:extLst>
          </p:cNvPr>
          <p:cNvSpPr>
            <a:spLocks xmlns:a="http://schemas.openxmlformats.org/drawingml/2006/main" noGrp="1"/>
          </p:cNvSpPr>
          <p:nvPr/>
        </p:nvSpPr>
        <p:spPr>
          <a:xfrm xmlns:a="http://schemas.openxmlformats.org/drawingml/2006/main">
            <a:off x="1571625" y="357187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Practical recommendation: 8 GB RAM and several GB of free disk space.</a:t>
            </a:r>
          </a:p>
        </p:txBody>
      </p:sp>
      <p:sp>
        <p:nvSpPr>
          <p:cNvPr id="10" name="">
            <a:extLst xmlns:a="http://schemas.openxmlformats.org/drawingml/2006/main">
              <a:ext uri="{FF2B5EF4-FFF2-40B4-BE49-F238E27FC236}">
                <a16:creationId xmlns:a16="http://schemas.microsoft.com/office/drawing/2014/main" id="{CAB21906-AC38-4711-95CB-12D26557B43D}"/>
              </a:ext>
            </a:extLst>
          </p:cNvPr>
          <p:cNvSpPr>
            <a:spLocks xmlns:a="http://schemas.openxmlformats.org/drawingml/2006/main" noGrp="1"/>
          </p:cNvSpPr>
          <p:nvPr/>
        </p:nvSpPr>
        <p:spPr>
          <a:xfrm xmlns:a="http://schemas.openxmlformats.org/drawingml/2006/main">
            <a:off x="762000" y="466725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5EF55B49-1C8F-4511-81CD-AED5B6F74D9A}"/>
              </a:ext>
            </a:extLst>
          </p:cNvPr>
          <p:cNvSpPr>
            <a:spLocks xmlns:a="http://schemas.openxmlformats.org/drawingml/2006/main" noGrp="1"/>
          </p:cNvSpPr>
          <p:nvPr/>
        </p:nvSpPr>
        <p:spPr>
          <a:xfrm xmlns:a="http://schemas.openxmlformats.org/drawingml/2006/main">
            <a:off x="1571625" y="447675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Network: package installation and optional fonts or Atlas. Compass is optional.</a:t>
            </a:r>
          </a:p>
        </p:txBody>
      </p:sp>
    </p:spTree>
    <p:extLst>
      <p:ext uri="{BB962C8B-B14F-4D97-AF65-F5344CB8AC3E}">
        <p14:creationId xmlns:p14="http://schemas.microsoft.com/office/powerpoint/2010/main" val="1208780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D51D511-DAD3-4E47-B1E4-7A7F9CD958AC}"/>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Technology Used</a:t>
            </a:r>
          </a:p>
        </p:txBody>
      </p:sp>
      <p:sp>
        <p:nvSpPr>
          <p:cNvPr id="2" name="">
            <a:extLst xmlns:a="http://schemas.openxmlformats.org/drawingml/2006/main">
              <a:ext uri="{FF2B5EF4-FFF2-40B4-BE49-F238E27FC236}">
                <a16:creationId xmlns:a16="http://schemas.microsoft.com/office/drawing/2014/main" id="{DDF9DD62-D8B8-4597-B693-BE26C34F75AB}"/>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7C611791-871B-4831-BD84-8DFF4C34F758}"/>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56D63B32-F1C6-42FE-B5D9-1A1DCC1D200B}"/>
              </a:ext>
            </a:extLst>
          </p:cNvPr>
          <p:cNvSpPr>
            <a:spLocks xmlns:a="http://schemas.openxmlformats.org/drawingml/2006/main" noGrp="1"/>
          </p:cNvSpPr>
          <p:nvPr/>
        </p:nvSpPr>
        <p:spPr>
          <a:xfrm xmlns:a="http://schemas.openxmlformats.org/drawingml/2006/main">
            <a:off x="762000" y="195262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FC2C0DE-76D2-458C-BB9B-AB869716EB72}"/>
              </a:ext>
            </a:extLst>
          </p:cNvPr>
          <p:cNvSpPr>
            <a:spLocks xmlns:a="http://schemas.openxmlformats.org/drawingml/2006/main" noGrp="1"/>
          </p:cNvSpPr>
          <p:nvPr/>
        </p:nvSpPr>
        <p:spPr>
          <a:xfrm xmlns:a="http://schemas.openxmlformats.org/drawingml/2006/main">
            <a:off x="1571625" y="176212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React + Vite: pages, reusable components, routing, and production builds.</a:t>
            </a:r>
          </a:p>
        </p:txBody>
      </p:sp>
      <p:sp>
        <p:nvSpPr>
          <p:cNvPr id="6" name="">
            <a:extLst xmlns:a="http://schemas.openxmlformats.org/drawingml/2006/main">
              <a:ext uri="{FF2B5EF4-FFF2-40B4-BE49-F238E27FC236}">
                <a16:creationId xmlns:a16="http://schemas.microsoft.com/office/drawing/2014/main" id="{83C88C4D-21FF-45F2-9B0D-1B8393554AB6}"/>
              </a:ext>
            </a:extLst>
          </p:cNvPr>
          <p:cNvSpPr>
            <a:spLocks xmlns:a="http://schemas.openxmlformats.org/drawingml/2006/main" noGrp="1"/>
          </p:cNvSpPr>
          <p:nvPr/>
        </p:nvSpPr>
        <p:spPr>
          <a:xfrm xmlns:a="http://schemas.openxmlformats.org/drawingml/2006/main">
            <a:off x="762000" y="28575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54E1D5B-17A9-48AB-9B4F-E757D561A747}"/>
              </a:ext>
            </a:extLst>
          </p:cNvPr>
          <p:cNvSpPr>
            <a:spLocks xmlns:a="http://schemas.openxmlformats.org/drawingml/2006/main" noGrp="1"/>
          </p:cNvSpPr>
          <p:nvPr/>
        </p:nvSpPr>
        <p:spPr>
          <a:xfrm xmlns:a="http://schemas.openxmlformats.org/drawingml/2006/main">
            <a:off x="1571625" y="266700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Node.js + Express: REST endpoints, validation, and ownership checks.</a:t>
            </a:r>
          </a:p>
        </p:txBody>
      </p:sp>
      <p:sp>
        <p:nvSpPr>
          <p:cNvPr id="8" name="">
            <a:extLst xmlns:a="http://schemas.openxmlformats.org/drawingml/2006/main">
              <a:ext uri="{FF2B5EF4-FFF2-40B4-BE49-F238E27FC236}">
                <a16:creationId xmlns:a16="http://schemas.microsoft.com/office/drawing/2014/main" id="{443EAD10-B2D6-4827-99ED-B5AFEA02120D}"/>
              </a:ext>
            </a:extLst>
          </p:cNvPr>
          <p:cNvSpPr>
            <a:spLocks xmlns:a="http://schemas.openxmlformats.org/drawingml/2006/main" noGrp="1"/>
          </p:cNvSpPr>
          <p:nvPr/>
        </p:nvSpPr>
        <p:spPr>
          <a:xfrm xmlns:a="http://schemas.openxmlformats.org/drawingml/2006/main">
            <a:off x="762000" y="376237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AAE773CA-C60D-46D2-A30E-66DB2B2F9870}"/>
              </a:ext>
            </a:extLst>
          </p:cNvPr>
          <p:cNvSpPr>
            <a:spLocks xmlns:a="http://schemas.openxmlformats.org/drawingml/2006/main" noGrp="1"/>
          </p:cNvSpPr>
          <p:nvPr/>
        </p:nvSpPr>
        <p:spPr>
          <a:xfrm xmlns:a="http://schemas.openxmlformats.org/drawingml/2006/main">
            <a:off x="1571625" y="357187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MongoDB + Mongoose: records, indexes, persistence, and version checks.</a:t>
            </a:r>
          </a:p>
        </p:txBody>
      </p:sp>
      <p:sp>
        <p:nvSpPr>
          <p:cNvPr id="10" name="">
            <a:extLst xmlns:a="http://schemas.openxmlformats.org/drawingml/2006/main">
              <a:ext uri="{FF2B5EF4-FFF2-40B4-BE49-F238E27FC236}">
                <a16:creationId xmlns:a16="http://schemas.microsoft.com/office/drawing/2014/main" id="{6636A570-A96C-41B1-BC78-388C83DDFCAE}"/>
              </a:ext>
            </a:extLst>
          </p:cNvPr>
          <p:cNvSpPr>
            <a:spLocks xmlns:a="http://schemas.openxmlformats.org/drawingml/2006/main" noGrp="1"/>
          </p:cNvSpPr>
          <p:nvPr/>
        </p:nvSpPr>
        <p:spPr>
          <a:xfrm xmlns:a="http://schemas.openxmlformats.org/drawingml/2006/main">
            <a:off x="762000" y="466725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FF0A1E35-65F3-44F1-8152-1AC8294B82B1}"/>
              </a:ext>
            </a:extLst>
          </p:cNvPr>
          <p:cNvSpPr>
            <a:spLocks xmlns:a="http://schemas.openxmlformats.org/drawingml/2006/main" noGrp="1"/>
          </p:cNvSpPr>
          <p:nvPr/>
        </p:nvSpPr>
        <p:spPr>
          <a:xfrm xmlns:a="http://schemas.openxmlformats.org/drawingml/2006/main">
            <a:off x="1571625" y="447675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292D25"/>
                </a:solidFill>
                <a:latin typeface="Arial"/>
                <a:ea typeface="Arial"/>
                <a:cs typeface="Arial"/>
              </a:defRPr>
            </a:defPPr>
          </a:lstStyle>
          <a:p xmlns:a="http://schemas.openxmlformats.org/drawingml/2006/main">
            <a:pPr>
              <a:defRPr sz="1875" b="0">
                <a:solidFill>
                  <a:srgbClr val="292D25"/>
                </a:solidFill>
                <a:latin typeface="Arial"/>
                <a:ea typeface="Arial"/>
                <a:cs typeface="Arial"/>
              </a:defRPr>
            </a:pPr>
            <a:r>
              <a:rPr sz="1875" b="0">
                <a:solidFill>
                  <a:srgbClr val="292D25"/>
                </a:solidFill>
                <a:latin typeface="Arial"/>
                <a:ea typeface="Arial"/>
                <a:cs typeface="Arial"/>
              </a:rPr>
              <a:t>bcrypt, sessions, and Luxon: password hashing, authentication, and local dates.</a:t>
            </a:r>
          </a:p>
        </p:txBody>
      </p:sp>
    </p:spTree>
    <p:extLst>
      <p:ext uri="{BB962C8B-B14F-4D97-AF65-F5344CB8AC3E}">
        <p14:creationId xmlns:p14="http://schemas.microsoft.com/office/powerpoint/2010/main" val="5432682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D897CED3-8D6C-491A-8450-B0E2966DABC0}"/>
              </a:ext>
            </a:extLst>
          </p:cNvPr>
          <p:cNvCxnSpPr>
            <a:stCxn xmlns:a="http://schemas.openxmlformats.org/drawingml/2006/main" id="7" idx="3"/>
            <a:endCxn xmlns:a="http://schemas.openxmlformats.org/drawingml/2006/main" id="10" idx="1"/>
          </p:cNvCxnSpPr>
          <p:nvPr/>
        </p:nvCxnSpPr>
        <p:spPr>
          <a:xfrm xmlns:a="http://schemas.openxmlformats.org/drawingml/2006/main">
            <a:off x="7591425" y="3048000"/>
            <a:ext cx="904875" cy="0"/>
          </a:xfrm>
          <a:prstGeom xmlns:a="http://schemas.openxmlformats.org/drawingml/2006/main" prst="straightConnector1">
            <a:avLst/>
          </a:prstGeom>
          <a:ln xmlns:a="http://schemas.openxmlformats.org/drawingml/2006/main" w="19050">
            <a:solidFill>
              <a:srgbClr val="75984E"/>
            </a:solidFill>
            <a:headEnd type="arrow" w="med" len="med"/>
            <a:tailEnd type="arrow" w="med" len="med"/>
          </a:ln>
        </p:spPr>
      </p:cxnSp>
      <p:cxnSp>
        <p:nvCxnSpPr>
          <p:cNvPr id="13" name="">
            <a:extLst xmlns:a="http://schemas.openxmlformats.org/drawingml/2006/main">
              <a:ext uri="{FF2B5EF4-FFF2-40B4-BE49-F238E27FC236}">
                <a16:creationId xmlns:a16="http://schemas.microsoft.com/office/drawing/2014/main" id="{AD170A72-1E71-4EC0-B96F-717707EF76B7}"/>
              </a:ext>
            </a:extLst>
          </p:cNvPr>
          <p:cNvCxnSpPr>
            <a:stCxn xmlns:a="http://schemas.openxmlformats.org/drawingml/2006/main" id="4" idx="3"/>
            <a:endCxn xmlns:a="http://schemas.openxmlformats.org/drawingml/2006/main" id="7" idx="1"/>
          </p:cNvCxnSpPr>
          <p:nvPr/>
        </p:nvCxnSpPr>
        <p:spPr>
          <a:xfrm xmlns:a="http://schemas.openxmlformats.org/drawingml/2006/main">
            <a:off x="3686175" y="3048000"/>
            <a:ext cx="904875" cy="0"/>
          </a:xfrm>
          <a:prstGeom xmlns:a="http://schemas.openxmlformats.org/drawingml/2006/main" prst="straightConnector1">
            <a:avLst/>
          </a:prstGeom>
          <a:ln xmlns:a="http://schemas.openxmlformats.org/drawingml/2006/main" w="19050">
            <a:solidFill>
              <a:srgbClr val="75984E"/>
            </a:solidFill>
            <a:headEnd type="arrow" w="med" len="med"/>
            <a:tailEnd type="arrow" w="med" len="med"/>
          </a:ln>
        </p:spPr>
      </p:cxnSp>
      <p:sp>
        <p:nvSpPr>
          <p:cNvPr id="18" name="">
            <a:extLst xmlns:a="http://schemas.openxmlformats.org/drawingml/2006/main">
              <a:ext uri="{FF2B5EF4-FFF2-40B4-BE49-F238E27FC236}">
                <a16:creationId xmlns:a16="http://schemas.microsoft.com/office/drawing/2014/main" id="{CD4A5FC2-E9FA-4AF6-B07E-D29AF26C1513}"/>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Block Diagram</a:t>
            </a:r>
          </a:p>
        </p:txBody>
      </p:sp>
      <p:sp>
        <p:nvSpPr>
          <p:cNvPr id="2" name="">
            <a:extLst xmlns:a="http://schemas.openxmlformats.org/drawingml/2006/main">
              <a:ext uri="{FF2B5EF4-FFF2-40B4-BE49-F238E27FC236}">
                <a16:creationId xmlns:a16="http://schemas.microsoft.com/office/drawing/2014/main" id="{D4F8D30C-BBC4-44CA-94BA-89146E3B9106}"/>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A2FB66B9-D046-4BCB-8D92-54AF81EB5F9C}"/>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5396108B-84D2-4BEB-9BE3-0D9A75D833C2}"/>
              </a:ext>
            </a:extLst>
          </p:cNvPr>
          <p:cNvSpPr>
            <a:spLocks xmlns:a="http://schemas.openxmlformats.org/drawingml/2006/main" noGrp="1"/>
          </p:cNvSpPr>
          <p:nvPr/>
        </p:nvSpPr>
        <p:spPr>
          <a:xfrm xmlns:a="http://schemas.openxmlformats.org/drawingml/2006/main">
            <a:off x="685800" y="2190750"/>
            <a:ext cx="3000375" cy="1714500"/>
          </a:xfrm>
          <a:prstGeom xmlns:a="http://schemas.openxmlformats.org/drawingml/2006/main" prst="rect">
            <a:avLst/>
          </a:prstGeom>
          <a:solidFill xmlns:a="http://schemas.openxmlformats.org/drawingml/2006/main">
            <a:srgbClr val="FAFBF8"/>
          </a:solidFill>
          <a:ln xmlns:a="http://schemas.openxmlformats.org/drawingml/2006/main" w="14288">
            <a:solidFill>
              <a:srgbClr val="8A9779"/>
            </a:solidFill>
          </a:ln>
        </p:spPr>
      </p:sp>
      <p:sp>
        <p:nvSpPr>
          <p:cNvPr id="5" name="">
            <a:extLst xmlns:a="http://schemas.openxmlformats.org/drawingml/2006/main">
              <a:ext uri="{FF2B5EF4-FFF2-40B4-BE49-F238E27FC236}">
                <a16:creationId xmlns:a16="http://schemas.microsoft.com/office/drawing/2014/main" id="{675B5ED2-2D8F-4498-AC36-F495AA217002}"/>
              </a:ext>
            </a:extLst>
          </p:cNvPr>
          <p:cNvSpPr>
            <a:spLocks xmlns:a="http://schemas.openxmlformats.org/drawingml/2006/main" noGrp="1"/>
          </p:cNvSpPr>
          <p:nvPr/>
        </p:nvSpPr>
        <p:spPr>
          <a:xfrm xmlns:a="http://schemas.openxmlformats.org/drawingml/2006/main">
            <a:off x="876300" y="23907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92D25"/>
                </a:solidFill>
                <a:latin typeface="Arial"/>
                <a:ea typeface="Arial"/>
                <a:cs typeface="Arial"/>
              </a:defRPr>
            </a:defPPr>
          </a:lstStyle>
          <a:p xmlns:a="http://schemas.openxmlformats.org/drawingml/2006/main">
            <a:pPr>
              <a:defRPr sz="2100" b="1">
                <a:solidFill>
                  <a:srgbClr val="292D25"/>
                </a:solidFill>
                <a:latin typeface="Arial"/>
                <a:ea typeface="Arial"/>
                <a:cs typeface="Arial"/>
              </a:defRPr>
            </a:pPr>
            <a:r>
              <a:rPr sz="2100" b="1">
                <a:solidFill>
                  <a:srgbClr val="292D25"/>
                </a:solidFill>
                <a:latin typeface="Arial"/>
                <a:ea typeface="Arial"/>
                <a:cs typeface="Arial"/>
              </a:rPr>
              <a:t>Browser / React</a:t>
            </a:r>
          </a:p>
        </p:txBody>
      </p:sp>
      <p:sp>
        <p:nvSpPr>
          <p:cNvPr id="6" name="">
            <a:extLst xmlns:a="http://schemas.openxmlformats.org/drawingml/2006/main">
              <a:ext uri="{FF2B5EF4-FFF2-40B4-BE49-F238E27FC236}">
                <a16:creationId xmlns:a16="http://schemas.microsoft.com/office/drawing/2014/main" id="{B3302A3F-4960-4573-8701-61A0DE402B3E}"/>
              </a:ext>
            </a:extLst>
          </p:cNvPr>
          <p:cNvSpPr>
            <a:spLocks xmlns:a="http://schemas.openxmlformats.org/drawingml/2006/main" noGrp="1"/>
          </p:cNvSpPr>
          <p:nvPr/>
        </p:nvSpPr>
        <p:spPr>
          <a:xfrm xmlns:a="http://schemas.openxmlformats.org/drawingml/2006/main">
            <a:off x="876300" y="29527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292D25"/>
                </a:solidFill>
                <a:latin typeface="Arial"/>
                <a:ea typeface="Arial"/>
                <a:cs typeface="Arial"/>
              </a:defRPr>
            </a:defPPr>
          </a:lstStyle>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Forms and pages</a:t>
            </a:r>
          </a:p>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API fetch client</a:t>
            </a:r>
          </a:p>
        </p:txBody>
      </p:sp>
      <p:sp>
        <p:nvSpPr>
          <p:cNvPr id="7" name="">
            <a:extLst xmlns:a="http://schemas.openxmlformats.org/drawingml/2006/main">
              <a:ext uri="{FF2B5EF4-FFF2-40B4-BE49-F238E27FC236}">
                <a16:creationId xmlns:a16="http://schemas.microsoft.com/office/drawing/2014/main" id="{DF22597C-4B4F-47A0-A2AF-E495963A0D22}"/>
              </a:ext>
            </a:extLst>
          </p:cNvPr>
          <p:cNvSpPr>
            <a:spLocks xmlns:a="http://schemas.openxmlformats.org/drawingml/2006/main" noGrp="1"/>
          </p:cNvSpPr>
          <p:nvPr/>
        </p:nvSpPr>
        <p:spPr>
          <a:xfrm xmlns:a="http://schemas.openxmlformats.org/drawingml/2006/main">
            <a:off x="4591050" y="2190750"/>
            <a:ext cx="3000375" cy="1714500"/>
          </a:xfrm>
          <a:prstGeom xmlns:a="http://schemas.openxmlformats.org/drawingml/2006/main" prst="rect">
            <a:avLst/>
          </a:prstGeom>
          <a:solidFill xmlns:a="http://schemas.openxmlformats.org/drawingml/2006/main">
            <a:srgbClr val="EEF3E5"/>
          </a:solidFill>
          <a:ln xmlns:a="http://schemas.openxmlformats.org/drawingml/2006/main" w="14288">
            <a:solidFill>
              <a:srgbClr val="8A9779"/>
            </a:solidFill>
          </a:ln>
        </p:spPr>
      </p:sp>
      <p:sp>
        <p:nvSpPr>
          <p:cNvPr id="8" name="">
            <a:extLst xmlns:a="http://schemas.openxmlformats.org/drawingml/2006/main">
              <a:ext uri="{FF2B5EF4-FFF2-40B4-BE49-F238E27FC236}">
                <a16:creationId xmlns:a16="http://schemas.microsoft.com/office/drawing/2014/main" id="{6868AA59-8067-4E5B-A26F-2E15AC0D7776}"/>
              </a:ext>
            </a:extLst>
          </p:cNvPr>
          <p:cNvSpPr>
            <a:spLocks xmlns:a="http://schemas.openxmlformats.org/drawingml/2006/main" noGrp="1"/>
          </p:cNvSpPr>
          <p:nvPr/>
        </p:nvSpPr>
        <p:spPr>
          <a:xfrm xmlns:a="http://schemas.openxmlformats.org/drawingml/2006/main">
            <a:off x="4781550" y="23907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92D25"/>
                </a:solidFill>
                <a:latin typeface="Arial"/>
                <a:ea typeface="Arial"/>
                <a:cs typeface="Arial"/>
              </a:defRPr>
            </a:defPPr>
          </a:lstStyle>
          <a:p xmlns:a="http://schemas.openxmlformats.org/drawingml/2006/main">
            <a:pPr>
              <a:defRPr sz="2100" b="1">
                <a:solidFill>
                  <a:srgbClr val="292D25"/>
                </a:solidFill>
                <a:latin typeface="Arial"/>
                <a:ea typeface="Arial"/>
                <a:cs typeface="Arial"/>
              </a:defRPr>
            </a:pPr>
            <a:r>
              <a:rPr sz="2100" b="1">
                <a:solidFill>
                  <a:srgbClr val="292D25"/>
                </a:solidFill>
                <a:latin typeface="Arial"/>
                <a:ea typeface="Arial"/>
                <a:cs typeface="Arial"/>
              </a:rPr>
              <a:t>Express / Node</a:t>
            </a:r>
          </a:p>
        </p:txBody>
      </p:sp>
      <p:sp>
        <p:nvSpPr>
          <p:cNvPr id="9" name="">
            <a:extLst xmlns:a="http://schemas.openxmlformats.org/drawingml/2006/main">
              <a:ext uri="{FF2B5EF4-FFF2-40B4-BE49-F238E27FC236}">
                <a16:creationId xmlns:a16="http://schemas.microsoft.com/office/drawing/2014/main" id="{03206B44-23B7-4D79-AEF6-2CE8943A6EDD}"/>
              </a:ext>
            </a:extLst>
          </p:cNvPr>
          <p:cNvSpPr>
            <a:spLocks xmlns:a="http://schemas.openxmlformats.org/drawingml/2006/main" noGrp="1"/>
          </p:cNvSpPr>
          <p:nvPr/>
        </p:nvSpPr>
        <p:spPr>
          <a:xfrm xmlns:a="http://schemas.openxmlformats.org/drawingml/2006/main">
            <a:off x="4781550" y="29527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292D25"/>
                </a:solidFill>
                <a:latin typeface="Arial"/>
                <a:ea typeface="Arial"/>
                <a:cs typeface="Arial"/>
              </a:defRPr>
            </a:defPPr>
          </a:lstStyle>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Session + CSRF</a:t>
            </a:r>
          </a:p>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Validation + controllers</a:t>
            </a:r>
          </a:p>
        </p:txBody>
      </p:sp>
      <p:sp>
        <p:nvSpPr>
          <p:cNvPr id="10" name="">
            <a:extLst xmlns:a="http://schemas.openxmlformats.org/drawingml/2006/main">
              <a:ext uri="{FF2B5EF4-FFF2-40B4-BE49-F238E27FC236}">
                <a16:creationId xmlns:a16="http://schemas.microsoft.com/office/drawing/2014/main" id="{2D55AC0D-3BF5-46E5-97B3-6AFB86887FC5}"/>
              </a:ext>
            </a:extLst>
          </p:cNvPr>
          <p:cNvSpPr>
            <a:spLocks xmlns:a="http://schemas.openxmlformats.org/drawingml/2006/main" noGrp="1"/>
          </p:cNvSpPr>
          <p:nvPr/>
        </p:nvSpPr>
        <p:spPr>
          <a:xfrm xmlns:a="http://schemas.openxmlformats.org/drawingml/2006/main">
            <a:off x="8496300" y="2190750"/>
            <a:ext cx="3000375" cy="1714500"/>
          </a:xfrm>
          <a:prstGeom xmlns:a="http://schemas.openxmlformats.org/drawingml/2006/main" prst="rect">
            <a:avLst/>
          </a:prstGeom>
          <a:solidFill xmlns:a="http://schemas.openxmlformats.org/drawingml/2006/main">
            <a:srgbClr val="FAFBF8"/>
          </a:solidFill>
          <a:ln xmlns:a="http://schemas.openxmlformats.org/drawingml/2006/main" w="14288">
            <a:solidFill>
              <a:srgbClr val="8A9779"/>
            </a:solidFill>
          </a:ln>
        </p:spPr>
      </p:sp>
      <p:sp>
        <p:nvSpPr>
          <p:cNvPr id="11" name="">
            <a:extLst xmlns:a="http://schemas.openxmlformats.org/drawingml/2006/main">
              <a:ext uri="{FF2B5EF4-FFF2-40B4-BE49-F238E27FC236}">
                <a16:creationId xmlns:a16="http://schemas.microsoft.com/office/drawing/2014/main" id="{2EA56CA4-CF26-4BE5-96B4-2F2644233A71}"/>
              </a:ext>
            </a:extLst>
          </p:cNvPr>
          <p:cNvSpPr>
            <a:spLocks xmlns:a="http://schemas.openxmlformats.org/drawingml/2006/main" noGrp="1"/>
          </p:cNvSpPr>
          <p:nvPr/>
        </p:nvSpPr>
        <p:spPr>
          <a:xfrm xmlns:a="http://schemas.openxmlformats.org/drawingml/2006/main">
            <a:off x="8686800" y="23907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92D25"/>
                </a:solidFill>
                <a:latin typeface="Arial"/>
                <a:ea typeface="Arial"/>
                <a:cs typeface="Arial"/>
              </a:defRPr>
            </a:defPPr>
          </a:lstStyle>
          <a:p xmlns:a="http://schemas.openxmlformats.org/drawingml/2006/main">
            <a:pPr>
              <a:defRPr sz="2100" b="1">
                <a:solidFill>
                  <a:srgbClr val="292D25"/>
                </a:solidFill>
                <a:latin typeface="Arial"/>
                <a:ea typeface="Arial"/>
                <a:cs typeface="Arial"/>
              </a:defRPr>
            </a:pPr>
            <a:r>
              <a:rPr sz="2100" b="1">
                <a:solidFill>
                  <a:srgbClr val="292D25"/>
                </a:solidFill>
                <a:latin typeface="Arial"/>
                <a:ea typeface="Arial"/>
                <a:cs typeface="Arial"/>
              </a:rPr>
              <a:t>MongoDB</a:t>
            </a:r>
          </a:p>
        </p:txBody>
      </p:sp>
      <p:sp>
        <p:nvSpPr>
          <p:cNvPr id="12" name="">
            <a:extLst xmlns:a="http://schemas.openxmlformats.org/drawingml/2006/main">
              <a:ext uri="{FF2B5EF4-FFF2-40B4-BE49-F238E27FC236}">
                <a16:creationId xmlns:a16="http://schemas.microsoft.com/office/drawing/2014/main" id="{4551240B-37BF-49D7-BE9B-6EB7C26C25A0}"/>
              </a:ext>
            </a:extLst>
          </p:cNvPr>
          <p:cNvSpPr>
            <a:spLocks xmlns:a="http://schemas.openxmlformats.org/drawingml/2006/main" noGrp="1"/>
          </p:cNvSpPr>
          <p:nvPr/>
        </p:nvSpPr>
        <p:spPr>
          <a:xfrm xmlns:a="http://schemas.openxmlformats.org/drawingml/2006/main">
            <a:off x="8686800" y="29527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292D25"/>
                </a:solidFill>
                <a:latin typeface="Arial"/>
                <a:ea typeface="Arial"/>
                <a:cs typeface="Arial"/>
              </a:defRPr>
            </a:defPPr>
          </a:lstStyle>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Users and planning data</a:t>
            </a:r>
          </a:p>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Sessions and history</a:t>
            </a:r>
          </a:p>
        </p:txBody>
      </p:sp>
      <p:sp>
        <p:nvSpPr>
          <p:cNvPr id="15" name="">
            <a:extLst xmlns:a="http://schemas.openxmlformats.org/drawingml/2006/main">
              <a:ext uri="{FF2B5EF4-FFF2-40B4-BE49-F238E27FC236}">
                <a16:creationId xmlns:a16="http://schemas.microsoft.com/office/drawing/2014/main" id="{3A641ABE-C3AC-46D3-9EDB-EF5541596752}"/>
              </a:ext>
            </a:extLst>
          </p:cNvPr>
          <p:cNvSpPr>
            <a:spLocks xmlns:a="http://schemas.openxmlformats.org/drawingml/2006/main" noGrp="1"/>
          </p:cNvSpPr>
          <p:nvPr/>
        </p:nvSpPr>
        <p:spPr>
          <a:xfrm xmlns:a="http://schemas.openxmlformats.org/drawingml/2006/main">
            <a:off x="2886075" y="41910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78816C"/>
                </a:solidFill>
                <a:latin typeface="Arial"/>
                <a:ea typeface="Arial"/>
                <a:cs typeface="Arial"/>
              </a:defRPr>
            </a:defPPr>
          </a:lstStyle>
          <a:p xmlns:a="http://schemas.openxmlformats.org/drawingml/2006/main">
            <a:pPr>
              <a:defRPr sz="1425" b="0">
                <a:solidFill>
                  <a:srgbClr val="78816C"/>
                </a:solidFill>
                <a:latin typeface="Arial"/>
                <a:ea typeface="Arial"/>
                <a:cs typeface="Arial"/>
              </a:defRPr>
            </a:pPr>
            <a:r>
              <a:rPr sz="1425" b="0">
                <a:solidFill>
                  <a:srgbClr val="78816C"/>
                </a:solidFill>
                <a:latin typeface="Arial"/>
                <a:ea typeface="Arial"/>
                <a:cs typeface="Arial"/>
              </a:rPr>
              <a:t>Requests / JSON responses</a:t>
            </a:r>
          </a:p>
        </p:txBody>
      </p:sp>
      <p:sp>
        <p:nvSpPr>
          <p:cNvPr id="16" name="">
            <a:extLst xmlns:a="http://schemas.openxmlformats.org/drawingml/2006/main">
              <a:ext uri="{FF2B5EF4-FFF2-40B4-BE49-F238E27FC236}">
                <a16:creationId xmlns:a16="http://schemas.microsoft.com/office/drawing/2014/main" id="{72FC37FF-4E74-43CD-8BF7-FF1EB9C33D71}"/>
              </a:ext>
            </a:extLst>
          </p:cNvPr>
          <p:cNvSpPr>
            <a:spLocks xmlns:a="http://schemas.openxmlformats.org/drawingml/2006/main" noGrp="1"/>
          </p:cNvSpPr>
          <p:nvPr/>
        </p:nvSpPr>
        <p:spPr>
          <a:xfrm xmlns:a="http://schemas.openxmlformats.org/drawingml/2006/main">
            <a:off x="7934325" y="41910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78816C"/>
                </a:solidFill>
                <a:latin typeface="Arial"/>
                <a:ea typeface="Arial"/>
                <a:cs typeface="Arial"/>
              </a:defRPr>
            </a:defPPr>
          </a:lstStyle>
          <a:p xmlns:a="http://schemas.openxmlformats.org/drawingml/2006/main">
            <a:pPr>
              <a:defRPr sz="1425" b="0">
                <a:solidFill>
                  <a:srgbClr val="78816C"/>
                </a:solidFill>
                <a:latin typeface="Arial"/>
                <a:ea typeface="Arial"/>
                <a:cs typeface="Arial"/>
              </a:defRPr>
            </a:pPr>
            <a:r>
              <a:rPr sz="1425" b="0">
                <a:solidFill>
                  <a:srgbClr val="78816C"/>
                </a:solidFill>
                <a:latin typeface="Arial"/>
                <a:ea typeface="Arial"/>
                <a:cs typeface="Arial"/>
              </a:rPr>
              <a:t>Queries / results</a:t>
            </a:r>
          </a:p>
        </p:txBody>
      </p:sp>
      <p:sp>
        <p:nvSpPr>
          <p:cNvPr id="17" name="">
            <a:extLst xmlns:a="http://schemas.openxmlformats.org/drawingml/2006/main">
              <a:ext uri="{FF2B5EF4-FFF2-40B4-BE49-F238E27FC236}">
                <a16:creationId xmlns:a16="http://schemas.microsoft.com/office/drawing/2014/main" id="{380EC21D-3037-4B8F-9470-E00B9118ED99}"/>
              </a:ext>
            </a:extLst>
          </p:cNvPr>
          <p:cNvSpPr>
            <a:spLocks xmlns:a="http://schemas.openxmlformats.org/drawingml/2006/main" noGrp="1"/>
          </p:cNvSpPr>
          <p:nvPr/>
        </p:nvSpPr>
        <p:spPr>
          <a:xfrm xmlns:a="http://schemas.openxmlformats.org/drawingml/2006/main">
            <a:off x="714375" y="51720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292D25"/>
                </a:solidFill>
                <a:latin typeface="Arial"/>
                <a:ea typeface="Arial"/>
                <a:cs typeface="Arial"/>
              </a:defRPr>
            </a:defPPr>
          </a:lstStyle>
          <a:p xmlns:a="http://schemas.openxmlformats.org/drawingml/2006/main">
            <a:pPr>
              <a:defRPr sz="2175" b="1">
                <a:solidFill>
                  <a:srgbClr val="292D25"/>
                </a:solidFill>
                <a:latin typeface="Arial"/>
                <a:ea typeface="Arial"/>
                <a:cs typeface="Arial"/>
              </a:defRPr>
            </a:pPr>
            <a:r>
              <a:rPr sz="2175" b="1">
                <a:solidFill>
                  <a:srgbClr val="292D25"/>
                </a:solidFill>
                <a:latin typeface="Arial"/>
                <a:ea typeface="Arial"/>
                <a:cs typeface="Arial"/>
              </a:rPr>
              <a:t>Ownership and business rules stay on the server.</a:t>
            </a:r>
          </a:p>
        </p:txBody>
      </p:sp>
    </p:spTree>
    <p:extLst>
      <p:ext uri="{BB962C8B-B14F-4D97-AF65-F5344CB8AC3E}">
        <p14:creationId xmlns:p14="http://schemas.microsoft.com/office/powerpoint/2010/main" val="14299304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E1DD480-3CA9-42F3-803B-7F81B045E778}"/>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Modules of the Project</a:t>
            </a:r>
          </a:p>
        </p:txBody>
      </p:sp>
      <p:sp>
        <p:nvSpPr>
          <p:cNvPr id="2" name="">
            <a:extLst xmlns:a="http://schemas.openxmlformats.org/drawingml/2006/main">
              <a:ext uri="{FF2B5EF4-FFF2-40B4-BE49-F238E27FC236}">
                <a16:creationId xmlns:a16="http://schemas.microsoft.com/office/drawing/2014/main" id="{9175FB9E-116E-4973-92BD-76A1E52BE2B3}"/>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48D39A13-73DB-44ED-8439-A8DAA690C2F0}"/>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EA70D682-B98E-463D-A5A9-1E76FA1A6C00}"/>
              </a:ext>
            </a:extLst>
          </p:cNvPr>
          <p:cNvSpPr>
            <a:spLocks xmlns:a="http://schemas.openxmlformats.org/drawingml/2006/main" noGrp="1"/>
          </p:cNvSpPr>
          <p:nvPr/>
        </p:nvSpPr>
        <p:spPr>
          <a:xfrm xmlns:a="http://schemas.openxmlformats.org/drawingml/2006/main">
            <a:off x="762000" y="176212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75984E"/>
                </a:solidFill>
                <a:latin typeface="Arial"/>
                <a:ea typeface="Arial"/>
                <a:cs typeface="Arial"/>
              </a:defRPr>
            </a:defPPr>
          </a:lstStyle>
          <a:p xmlns:a="http://schemas.openxmlformats.org/drawingml/2006/main">
            <a:pPr>
              <a:defRPr sz="2175" b="1">
                <a:solidFill>
                  <a:srgbClr val="75984E"/>
                </a:solidFill>
                <a:latin typeface="Arial"/>
                <a:ea typeface="Arial"/>
                <a:cs typeface="Arial"/>
              </a:defRPr>
            </a:pPr>
            <a:r>
              <a:rPr sz="2175" b="1">
                <a:solidFill>
                  <a:srgbClr val="75984E"/>
                </a:solidFill>
                <a:latin typeface="Arial"/>
                <a:ea typeface="Arial"/>
                <a:cs typeface="Arial"/>
              </a:rPr>
              <a:t>Authentication</a:t>
            </a:r>
          </a:p>
        </p:txBody>
      </p:sp>
      <p:sp>
        <p:nvSpPr>
          <p:cNvPr id="5" name="">
            <a:extLst xmlns:a="http://schemas.openxmlformats.org/drawingml/2006/main">
              <a:ext uri="{FF2B5EF4-FFF2-40B4-BE49-F238E27FC236}">
                <a16:creationId xmlns:a16="http://schemas.microsoft.com/office/drawing/2014/main" id="{23B00083-C659-4755-8C94-600C1BE2C725}"/>
              </a:ext>
            </a:extLst>
          </p:cNvPr>
          <p:cNvSpPr>
            <a:spLocks xmlns:a="http://schemas.openxmlformats.org/drawingml/2006/main" noGrp="1"/>
          </p:cNvSpPr>
          <p:nvPr/>
        </p:nvSpPr>
        <p:spPr>
          <a:xfrm xmlns:a="http://schemas.openxmlformats.org/drawingml/2006/main">
            <a:off x="762000" y="220980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292D25"/>
                </a:solidFill>
                <a:latin typeface="Arial"/>
                <a:ea typeface="Arial"/>
                <a:cs typeface="Arial"/>
              </a:defRPr>
            </a:defPPr>
          </a:lstStyle>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Registration, login, session restoration</a:t>
            </a:r>
          </a:p>
        </p:txBody>
      </p:sp>
      <p:sp>
        <p:nvSpPr>
          <p:cNvPr id="6" name="">
            <a:extLst xmlns:a="http://schemas.openxmlformats.org/drawingml/2006/main">
              <a:ext uri="{FF2B5EF4-FFF2-40B4-BE49-F238E27FC236}">
                <a16:creationId xmlns:a16="http://schemas.microsoft.com/office/drawing/2014/main" id="{ABE03ACE-F9E2-4BC2-915E-476F7581EBB0}"/>
              </a:ext>
            </a:extLst>
          </p:cNvPr>
          <p:cNvSpPr>
            <a:spLocks xmlns:a="http://schemas.openxmlformats.org/drawingml/2006/main" noGrp="1"/>
          </p:cNvSpPr>
          <p:nvPr/>
        </p:nvSpPr>
        <p:spPr>
          <a:xfrm xmlns:a="http://schemas.openxmlformats.org/drawingml/2006/main">
            <a:off x="6572250" y="176212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75984E"/>
                </a:solidFill>
                <a:latin typeface="Arial"/>
                <a:ea typeface="Arial"/>
                <a:cs typeface="Arial"/>
              </a:defRPr>
            </a:defPPr>
          </a:lstStyle>
          <a:p xmlns:a="http://schemas.openxmlformats.org/drawingml/2006/main">
            <a:pPr>
              <a:defRPr sz="2175" b="1">
                <a:solidFill>
                  <a:srgbClr val="75984E"/>
                </a:solidFill>
                <a:latin typeface="Arial"/>
                <a:ea typeface="Arial"/>
                <a:cs typeface="Arial"/>
              </a:defRPr>
            </a:pPr>
            <a:r>
              <a:rPr sz="2175" b="1">
                <a:solidFill>
                  <a:srgbClr val="75984E"/>
                </a:solidFill>
                <a:latin typeface="Arial"/>
                <a:ea typeface="Arial"/>
                <a:cs typeface="Arial"/>
              </a:rPr>
              <a:t>Tasks / Priority</a:t>
            </a:r>
          </a:p>
        </p:txBody>
      </p:sp>
      <p:sp>
        <p:nvSpPr>
          <p:cNvPr id="7" name="">
            <a:extLst xmlns:a="http://schemas.openxmlformats.org/drawingml/2006/main">
              <a:ext uri="{FF2B5EF4-FFF2-40B4-BE49-F238E27FC236}">
                <a16:creationId xmlns:a16="http://schemas.microsoft.com/office/drawing/2014/main" id="{E880C345-ED16-4C6B-B16A-D0BA73805F87}"/>
              </a:ext>
            </a:extLst>
          </p:cNvPr>
          <p:cNvSpPr>
            <a:spLocks xmlns:a="http://schemas.openxmlformats.org/drawingml/2006/main" noGrp="1"/>
          </p:cNvSpPr>
          <p:nvPr/>
        </p:nvSpPr>
        <p:spPr>
          <a:xfrm xmlns:a="http://schemas.openxmlformats.org/drawingml/2006/main">
            <a:off x="6572250" y="220980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292D25"/>
                </a:solidFill>
                <a:latin typeface="Arial"/>
                <a:ea typeface="Arial"/>
                <a:cs typeface="Arial"/>
              </a:defRPr>
            </a:defPPr>
          </a:lstStyle>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CRUD, filtering, status, and racing progress</a:t>
            </a:r>
          </a:p>
        </p:txBody>
      </p:sp>
      <p:sp>
        <p:nvSpPr>
          <p:cNvPr id="8" name="">
            <a:extLst xmlns:a="http://schemas.openxmlformats.org/drawingml/2006/main">
              <a:ext uri="{FF2B5EF4-FFF2-40B4-BE49-F238E27FC236}">
                <a16:creationId xmlns:a16="http://schemas.microsoft.com/office/drawing/2014/main" id="{5BED8030-9E30-4269-B24A-CFEF6A2CE58E}"/>
              </a:ext>
            </a:extLst>
          </p:cNvPr>
          <p:cNvSpPr>
            <a:spLocks xmlns:a="http://schemas.openxmlformats.org/drawingml/2006/main" noGrp="1"/>
          </p:cNvSpPr>
          <p:nvPr/>
        </p:nvSpPr>
        <p:spPr>
          <a:xfrm xmlns:a="http://schemas.openxmlformats.org/drawingml/2006/main">
            <a:off x="762000" y="31146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75984E"/>
                </a:solidFill>
                <a:latin typeface="Arial"/>
                <a:ea typeface="Arial"/>
                <a:cs typeface="Arial"/>
              </a:defRPr>
            </a:defPPr>
          </a:lstStyle>
          <a:p xmlns:a="http://schemas.openxmlformats.org/drawingml/2006/main">
            <a:pPr>
              <a:defRPr sz="2175" b="1">
                <a:solidFill>
                  <a:srgbClr val="75984E"/>
                </a:solidFill>
                <a:latin typeface="Arial"/>
                <a:ea typeface="Arial"/>
                <a:cs typeface="Arial"/>
              </a:defRPr>
            </a:pPr>
            <a:r>
              <a:rPr sz="2175" b="1">
                <a:solidFill>
                  <a:srgbClr val="75984E"/>
                </a:solidFill>
                <a:latin typeface="Arial"/>
                <a:ea typeface="Arial"/>
                <a:cs typeface="Arial"/>
              </a:rPr>
              <a:t>Routines</a:t>
            </a:r>
          </a:p>
        </p:txBody>
      </p:sp>
      <p:sp>
        <p:nvSpPr>
          <p:cNvPr id="9" name="">
            <a:extLst xmlns:a="http://schemas.openxmlformats.org/drawingml/2006/main">
              <a:ext uri="{FF2B5EF4-FFF2-40B4-BE49-F238E27FC236}">
                <a16:creationId xmlns:a16="http://schemas.microsoft.com/office/drawing/2014/main" id="{656E0C00-84A2-41B6-9186-C260316CF083}"/>
              </a:ext>
            </a:extLst>
          </p:cNvPr>
          <p:cNvSpPr>
            <a:spLocks xmlns:a="http://schemas.openxmlformats.org/drawingml/2006/main" noGrp="1"/>
          </p:cNvSpPr>
          <p:nvPr/>
        </p:nvSpPr>
        <p:spPr>
          <a:xfrm xmlns:a="http://schemas.openxmlformats.org/drawingml/2006/main">
            <a:off x="762000" y="356235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292D25"/>
                </a:solidFill>
                <a:latin typeface="Arial"/>
                <a:ea typeface="Arial"/>
                <a:cs typeface="Arial"/>
              </a:defRPr>
            </a:defPPr>
          </a:lstStyle>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Schedules, ordering, archive, and daily check-ins</a:t>
            </a:r>
          </a:p>
        </p:txBody>
      </p:sp>
      <p:sp>
        <p:nvSpPr>
          <p:cNvPr id="10" name="">
            <a:extLst xmlns:a="http://schemas.openxmlformats.org/drawingml/2006/main">
              <a:ext uri="{FF2B5EF4-FFF2-40B4-BE49-F238E27FC236}">
                <a16:creationId xmlns:a16="http://schemas.microsoft.com/office/drawing/2014/main" id="{CCBBBF3A-F2C1-4137-A09E-59EDDA1CAB3F}"/>
              </a:ext>
            </a:extLst>
          </p:cNvPr>
          <p:cNvSpPr>
            <a:spLocks xmlns:a="http://schemas.openxmlformats.org/drawingml/2006/main" noGrp="1"/>
          </p:cNvSpPr>
          <p:nvPr/>
        </p:nvSpPr>
        <p:spPr>
          <a:xfrm xmlns:a="http://schemas.openxmlformats.org/drawingml/2006/main">
            <a:off x="6572250" y="31146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75984E"/>
                </a:solidFill>
                <a:latin typeface="Arial"/>
                <a:ea typeface="Arial"/>
                <a:cs typeface="Arial"/>
              </a:defRPr>
            </a:defPPr>
          </a:lstStyle>
          <a:p xmlns:a="http://schemas.openxmlformats.org/drawingml/2006/main">
            <a:pPr>
              <a:defRPr sz="2175" b="1">
                <a:solidFill>
                  <a:srgbClr val="75984E"/>
                </a:solidFill>
                <a:latin typeface="Arial"/>
                <a:ea typeface="Arial"/>
                <a:cs typeface="Arial"/>
              </a:defRPr>
            </a:pPr>
            <a:r>
              <a:rPr sz="2175" b="1">
                <a:solidFill>
                  <a:srgbClr val="75984E"/>
                </a:solidFill>
                <a:latin typeface="Arial"/>
                <a:ea typeface="Arial"/>
                <a:cs typeface="Arial"/>
              </a:rPr>
              <a:t>Calendar / Statistics</a:t>
            </a:r>
          </a:p>
        </p:txBody>
      </p:sp>
      <p:sp>
        <p:nvSpPr>
          <p:cNvPr id="11" name="">
            <a:extLst xmlns:a="http://schemas.openxmlformats.org/drawingml/2006/main">
              <a:ext uri="{FF2B5EF4-FFF2-40B4-BE49-F238E27FC236}">
                <a16:creationId xmlns:a16="http://schemas.microsoft.com/office/drawing/2014/main" id="{B6B8798C-AA3C-4C4A-8829-68E20C1500A3}"/>
              </a:ext>
            </a:extLst>
          </p:cNvPr>
          <p:cNvSpPr>
            <a:spLocks xmlns:a="http://schemas.openxmlformats.org/drawingml/2006/main" noGrp="1"/>
          </p:cNvSpPr>
          <p:nvPr/>
        </p:nvSpPr>
        <p:spPr>
          <a:xfrm xmlns:a="http://schemas.openxmlformats.org/drawingml/2006/main">
            <a:off x="6572250" y="356235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292D25"/>
                </a:solidFill>
                <a:latin typeface="Arial"/>
                <a:ea typeface="Arial"/>
                <a:cs typeface="Arial"/>
              </a:defRPr>
            </a:defPPr>
          </a:lstStyle>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Occurrence rates, daily counts, and streaks</a:t>
            </a:r>
          </a:p>
        </p:txBody>
      </p:sp>
      <p:sp>
        <p:nvSpPr>
          <p:cNvPr id="12" name="">
            <a:extLst xmlns:a="http://schemas.openxmlformats.org/drawingml/2006/main">
              <a:ext uri="{FF2B5EF4-FFF2-40B4-BE49-F238E27FC236}">
                <a16:creationId xmlns:a16="http://schemas.microsoft.com/office/drawing/2014/main" id="{F1F640B8-15F3-46CE-86F5-CD96975950C3}"/>
              </a:ext>
            </a:extLst>
          </p:cNvPr>
          <p:cNvSpPr>
            <a:spLocks xmlns:a="http://schemas.openxmlformats.org/drawingml/2006/main" noGrp="1"/>
          </p:cNvSpPr>
          <p:nvPr/>
        </p:nvSpPr>
        <p:spPr>
          <a:xfrm xmlns:a="http://schemas.openxmlformats.org/drawingml/2006/main">
            <a:off x="762000" y="446722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75984E"/>
                </a:solidFill>
                <a:latin typeface="Arial"/>
                <a:ea typeface="Arial"/>
                <a:cs typeface="Arial"/>
              </a:defRPr>
            </a:defPPr>
          </a:lstStyle>
          <a:p xmlns:a="http://schemas.openxmlformats.org/drawingml/2006/main">
            <a:pPr>
              <a:defRPr sz="2175" b="1">
                <a:solidFill>
                  <a:srgbClr val="75984E"/>
                </a:solidFill>
                <a:latin typeface="Arial"/>
                <a:ea typeface="Arial"/>
                <a:cs typeface="Arial"/>
              </a:defRPr>
            </a:pPr>
            <a:r>
              <a:rPr sz="2175" b="1">
                <a:solidFill>
                  <a:srgbClr val="75984E"/>
                </a:solidFill>
                <a:latin typeface="Arial"/>
                <a:ea typeface="Arial"/>
                <a:cs typeface="Arial"/>
              </a:rPr>
              <a:t>Autosave / Activity</a:t>
            </a:r>
          </a:p>
        </p:txBody>
      </p:sp>
      <p:sp>
        <p:nvSpPr>
          <p:cNvPr id="13" name="">
            <a:extLst xmlns:a="http://schemas.openxmlformats.org/drawingml/2006/main">
              <a:ext uri="{FF2B5EF4-FFF2-40B4-BE49-F238E27FC236}">
                <a16:creationId xmlns:a16="http://schemas.microsoft.com/office/drawing/2014/main" id="{25118322-C0EA-4820-A499-DCC393C1CC75}"/>
              </a:ext>
            </a:extLst>
          </p:cNvPr>
          <p:cNvSpPr>
            <a:spLocks xmlns:a="http://schemas.openxmlformats.org/drawingml/2006/main" noGrp="1"/>
          </p:cNvSpPr>
          <p:nvPr/>
        </p:nvSpPr>
        <p:spPr>
          <a:xfrm xmlns:a="http://schemas.openxmlformats.org/drawingml/2006/main">
            <a:off x="762000" y="491490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292D25"/>
                </a:solidFill>
                <a:latin typeface="Arial"/>
                <a:ea typeface="Arial"/>
                <a:cs typeface="Arial"/>
              </a:defRPr>
            </a:defPPr>
          </a:lstStyle>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Serialized saves, retries, and action history</a:t>
            </a:r>
          </a:p>
        </p:txBody>
      </p:sp>
      <p:sp>
        <p:nvSpPr>
          <p:cNvPr id="14" name="">
            <a:extLst xmlns:a="http://schemas.openxmlformats.org/drawingml/2006/main">
              <a:ext uri="{FF2B5EF4-FFF2-40B4-BE49-F238E27FC236}">
                <a16:creationId xmlns:a16="http://schemas.microsoft.com/office/drawing/2014/main" id="{EEC26DAC-2A11-4463-A211-9280A8834F81}"/>
              </a:ext>
            </a:extLst>
          </p:cNvPr>
          <p:cNvSpPr>
            <a:spLocks xmlns:a="http://schemas.openxmlformats.org/drawingml/2006/main" noGrp="1"/>
          </p:cNvSpPr>
          <p:nvPr/>
        </p:nvSpPr>
        <p:spPr>
          <a:xfrm xmlns:a="http://schemas.openxmlformats.org/drawingml/2006/main">
            <a:off x="6572250" y="446722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75984E"/>
                </a:solidFill>
                <a:latin typeface="Arial"/>
                <a:ea typeface="Arial"/>
                <a:cs typeface="Arial"/>
              </a:defRPr>
            </a:defPPr>
          </a:lstStyle>
          <a:p xmlns:a="http://schemas.openxmlformats.org/drawingml/2006/main">
            <a:pPr>
              <a:defRPr sz="2175" b="1">
                <a:solidFill>
                  <a:srgbClr val="75984E"/>
                </a:solidFill>
                <a:latin typeface="Arial"/>
                <a:ea typeface="Arial"/>
                <a:cs typeface="Arial"/>
              </a:defRPr>
            </a:pPr>
            <a:r>
              <a:rPr sz="2175" b="1">
                <a:solidFill>
                  <a:srgbClr val="75984E"/>
                </a:solidFill>
                <a:latin typeface="Arial"/>
                <a:ea typeface="Arial"/>
                <a:cs typeface="Arial"/>
              </a:rPr>
              <a:t>Settings</a:t>
            </a:r>
          </a:p>
        </p:txBody>
      </p:sp>
      <p:sp>
        <p:nvSpPr>
          <p:cNvPr id="15" name="">
            <a:extLst xmlns:a="http://schemas.openxmlformats.org/drawingml/2006/main">
              <a:ext uri="{FF2B5EF4-FFF2-40B4-BE49-F238E27FC236}">
                <a16:creationId xmlns:a16="http://schemas.microsoft.com/office/drawing/2014/main" id="{0A49E409-F0E0-4E35-A644-FE32EC304E94}"/>
              </a:ext>
            </a:extLst>
          </p:cNvPr>
          <p:cNvSpPr>
            <a:spLocks xmlns:a="http://schemas.openxmlformats.org/drawingml/2006/main" noGrp="1"/>
          </p:cNvSpPr>
          <p:nvPr/>
        </p:nvSpPr>
        <p:spPr>
          <a:xfrm xmlns:a="http://schemas.openxmlformats.org/drawingml/2006/main">
            <a:off x="6572250" y="491490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292D25"/>
                </a:solidFill>
                <a:latin typeface="Arial"/>
                <a:ea typeface="Arial"/>
                <a:cs typeface="Arial"/>
              </a:defRPr>
            </a:defPPr>
          </a:lstStyle>
          <a:p xmlns:a="http://schemas.openxmlformats.org/drawingml/2006/main">
            <a:pPr>
              <a:defRPr sz="1725" b="0">
                <a:solidFill>
                  <a:srgbClr val="292D25"/>
                </a:solidFill>
                <a:latin typeface="Arial"/>
                <a:ea typeface="Arial"/>
                <a:cs typeface="Arial"/>
              </a:defRPr>
            </a:pPr>
            <a:r>
              <a:rPr sz="1725" b="0">
                <a:solidFill>
                  <a:srgbClr val="292D25"/>
                </a:solidFill>
                <a:latin typeface="Arial"/>
                <a:ea typeface="Arial"/>
                <a:cs typeface="Arial"/>
              </a:rPr>
              <a:t>Name and IANA timezone</a:t>
            </a:r>
          </a:p>
        </p:txBody>
      </p:sp>
    </p:spTree>
    <p:extLst>
      <p:ext uri="{BB962C8B-B14F-4D97-AF65-F5344CB8AC3E}">
        <p14:creationId xmlns:p14="http://schemas.microsoft.com/office/powerpoint/2010/main" val="491852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082AEF-0B20-4DBB-A12E-F5505992444E}"/>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Screenshots / Output</a:t>
            </a:r>
          </a:p>
        </p:txBody>
      </p:sp>
      <p:sp>
        <p:nvSpPr>
          <p:cNvPr id="2" name="">
            <a:extLst xmlns:a="http://schemas.openxmlformats.org/drawingml/2006/main">
              <a:ext uri="{FF2B5EF4-FFF2-40B4-BE49-F238E27FC236}">
                <a16:creationId xmlns:a16="http://schemas.microsoft.com/office/drawing/2014/main" id="{051B36E5-3846-4169-8DA3-71EE66148298}"/>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2955B525-6CFE-4A5D-9917-12883FF2E447}"/>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12</a:t>
            </a:r>
          </a:p>
        </p:txBody>
      </p:sp>
      <p:pic>
        <p:nvPicPr>
          <p:cNvPr id="4" name="">
            <a:extLst xmlns:a="http://schemas.openxmlformats.org/drawingml/2006/main">
              <a:ext uri="{FF2B5EF4-FFF2-40B4-BE49-F238E27FC236}">
                <a16:creationId xmlns:a16="http://schemas.microsoft.com/office/drawing/2014/main" id="{CEF9AD2E-25E5-499A-98E7-3AA004DA2C36}"/>
              </a:ext>
            </a:extLst>
          </p:cNvPr>
          <p:cNvPicPr>
            <a:picLocks xmlns:a="http://schemas.openxmlformats.org/drawingml/2006/main" noChangeAspect="1"/>
          </p:cNvPicPr>
          <p:nvPr/>
        </p:nvPicPr>
        <p:blipFill>
          <a:blip xmlns:r="http://schemas.openxmlformats.org/officeDocument/2006/relationships" xmlns:a="http://schemas.openxmlformats.org/drawingml/2006/main" r:embed="Rc1daf8af351a4e0a"/>
          <a:stretch xmlns:a="http://schemas.openxmlformats.org/drawingml/2006/main"/>
        </p:blipFill>
        <p:spPr>
          <a:xfrm xmlns:a="http://schemas.openxmlformats.org/drawingml/2006/main">
            <a:off x="972150" y="1457325"/>
            <a:ext cx="3389699" cy="43815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AAF4AF93-05FA-4B21-A4B8-E84BCA9DED0E}"/>
              </a:ext>
            </a:extLst>
          </p:cNvPr>
          <p:cNvPicPr>
            <a:picLocks xmlns:a="http://schemas.openxmlformats.org/drawingml/2006/main" noChangeAspect="1"/>
          </p:cNvPicPr>
          <p:nvPr/>
        </p:nvPicPr>
        <p:blipFill>
          <a:blip xmlns:r="http://schemas.openxmlformats.org/officeDocument/2006/relationships" xmlns:a="http://schemas.openxmlformats.org/drawingml/2006/main" r:embed="Rcb6d3732acfe428a"/>
          <a:stretch xmlns:a="http://schemas.openxmlformats.org/drawingml/2006/main"/>
        </p:blipFill>
        <p:spPr>
          <a:xfrm xmlns:a="http://schemas.openxmlformats.org/drawingml/2006/main">
            <a:off x="5775580" y="1619250"/>
            <a:ext cx="5117591" cy="4048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C0BB208-D087-453E-8ACB-B2C39E85DDF8}"/>
              </a:ext>
            </a:extLst>
          </p:cNvPr>
          <p:cNvSpPr>
            <a:spLocks xmlns:a="http://schemas.openxmlformats.org/drawingml/2006/main" noGrp="1"/>
          </p:cNvSpPr>
          <p:nvPr/>
        </p:nvSpPr>
        <p:spPr>
          <a:xfrm xmlns:a="http://schemas.openxmlformats.org/drawingml/2006/main">
            <a:off x="666750" y="5829300"/>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1">
                <a:solidFill>
                  <a:srgbClr val="292D25"/>
                </a:solidFill>
                <a:latin typeface="Arial"/>
                <a:ea typeface="Arial"/>
                <a:cs typeface="Arial"/>
              </a:defRPr>
            </a:defPPr>
          </a:lstStyle>
          <a:p xmlns:a="http://schemas.openxmlformats.org/drawingml/2006/main">
            <a:pPr>
              <a:defRPr sz="1425" b="1">
                <a:solidFill>
                  <a:srgbClr val="292D25"/>
                </a:solidFill>
                <a:latin typeface="Arial"/>
                <a:ea typeface="Arial"/>
                <a:cs typeface="Arial"/>
              </a:defRPr>
            </a:pPr>
            <a:r>
              <a:rPr sz="1425" b="1">
                <a:solidFill>
                  <a:srgbClr val="292D25"/>
                </a:solidFill>
                <a:latin typeface="Arial"/>
                <a:ea typeface="Arial"/>
                <a:cs typeface="Arial"/>
              </a:rPr>
              <a:t>Task details with confirmed autosave</a:t>
            </a:r>
          </a:p>
        </p:txBody>
      </p:sp>
      <p:sp>
        <p:nvSpPr>
          <p:cNvPr id="7" name="">
            <a:extLst xmlns:a="http://schemas.openxmlformats.org/drawingml/2006/main">
              <a:ext uri="{FF2B5EF4-FFF2-40B4-BE49-F238E27FC236}">
                <a16:creationId xmlns:a16="http://schemas.microsoft.com/office/drawing/2014/main" id="{5D224B35-988F-4DF9-A682-D1AF03DEC296}"/>
              </a:ext>
            </a:extLst>
          </p:cNvPr>
          <p:cNvSpPr>
            <a:spLocks xmlns:a="http://schemas.openxmlformats.org/drawingml/2006/main" noGrp="1"/>
          </p:cNvSpPr>
          <p:nvPr/>
        </p:nvSpPr>
        <p:spPr>
          <a:xfrm xmlns:a="http://schemas.openxmlformats.org/drawingml/2006/main">
            <a:off x="5229225" y="5829300"/>
            <a:ext cx="628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1">
                <a:solidFill>
                  <a:srgbClr val="292D25"/>
                </a:solidFill>
                <a:latin typeface="Arial"/>
                <a:ea typeface="Arial"/>
                <a:cs typeface="Arial"/>
              </a:defRPr>
            </a:defPPr>
          </a:lstStyle>
          <a:p xmlns:a="http://schemas.openxmlformats.org/drawingml/2006/main">
            <a:pPr>
              <a:defRPr sz="1425" b="1">
                <a:solidFill>
                  <a:srgbClr val="292D25"/>
                </a:solidFill>
                <a:latin typeface="Arial"/>
                <a:ea typeface="Arial"/>
                <a:cs typeface="Arial"/>
              </a:defRPr>
            </a:pPr>
            <a:r>
              <a:rPr sz="1425" b="1">
                <a:solidFill>
                  <a:srgbClr val="292D25"/>
                </a:solidFill>
                <a:latin typeface="Arial"/>
                <a:ea typeface="Arial"/>
                <a:cs typeface="Arial"/>
              </a:rPr>
              <a:t>Routine board with independent daily check-ins</a:t>
            </a:r>
          </a:p>
        </p:txBody>
      </p:sp>
    </p:spTree>
    <p:extLst>
      <p:ext uri="{BB962C8B-B14F-4D97-AF65-F5344CB8AC3E}">
        <p14:creationId xmlns:p14="http://schemas.microsoft.com/office/powerpoint/2010/main" val="8940085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F2F460D-2F2E-4626-BE58-F59BF90DA232}"/>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Future Scope</a:t>
            </a:r>
          </a:p>
        </p:txBody>
      </p:sp>
      <p:sp>
        <p:nvSpPr>
          <p:cNvPr id="2" name="">
            <a:extLst xmlns:a="http://schemas.openxmlformats.org/drawingml/2006/main">
              <a:ext uri="{FF2B5EF4-FFF2-40B4-BE49-F238E27FC236}">
                <a16:creationId xmlns:a16="http://schemas.microsoft.com/office/drawing/2014/main" id="{E5D0E58F-6CCE-4220-BE1E-CE44061BDBF1}"/>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C962F403-8174-4757-968F-B630CCEB8AB3}"/>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9B40BB78-3D47-41CD-A2A1-573397A66757}"/>
              </a:ext>
            </a:extLst>
          </p:cNvPr>
          <p:cNvSpPr>
            <a:spLocks xmlns:a="http://schemas.openxmlformats.org/drawingml/2006/main" noGrp="1"/>
          </p:cNvSpPr>
          <p:nvPr/>
        </p:nvSpPr>
        <p:spPr>
          <a:xfrm xmlns:a="http://schemas.openxmlformats.org/drawingml/2006/main">
            <a:off x="762000" y="195262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7F2DFB8-FA57-42CA-8628-AF5EAAA5D802}"/>
              </a:ext>
            </a:extLst>
          </p:cNvPr>
          <p:cNvSpPr>
            <a:spLocks xmlns:a="http://schemas.openxmlformats.org/drawingml/2006/main" noGrp="1"/>
          </p:cNvSpPr>
          <p:nvPr/>
        </p:nvSpPr>
        <p:spPr>
          <a:xfrm xmlns:a="http://schemas.openxmlformats.org/drawingml/2006/main">
            <a:off x="1571625" y="176212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A native Android client that reuses the Express API.</a:t>
            </a:r>
          </a:p>
        </p:txBody>
      </p:sp>
      <p:sp>
        <p:nvSpPr>
          <p:cNvPr id="6" name="">
            <a:extLst xmlns:a="http://schemas.openxmlformats.org/drawingml/2006/main">
              <a:ext uri="{FF2B5EF4-FFF2-40B4-BE49-F238E27FC236}">
                <a16:creationId xmlns:a16="http://schemas.microsoft.com/office/drawing/2014/main" id="{BE845D0E-F41B-46E5-BE37-A7489A991313}"/>
              </a:ext>
            </a:extLst>
          </p:cNvPr>
          <p:cNvSpPr>
            <a:spLocks xmlns:a="http://schemas.openxmlformats.org/drawingml/2006/main" noGrp="1"/>
          </p:cNvSpPr>
          <p:nvPr/>
        </p:nvSpPr>
        <p:spPr>
          <a:xfrm xmlns:a="http://schemas.openxmlformats.org/drawingml/2006/main">
            <a:off x="762000" y="28575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0962D9A-EE89-4D07-976D-907F3A45EFAE}"/>
              </a:ext>
            </a:extLst>
          </p:cNvPr>
          <p:cNvSpPr>
            <a:spLocks xmlns:a="http://schemas.openxmlformats.org/drawingml/2006/main" noGrp="1"/>
          </p:cNvSpPr>
          <p:nvPr/>
        </p:nvSpPr>
        <p:spPr>
          <a:xfrm xmlns:a="http://schemas.openxmlformats.org/drawingml/2006/main">
            <a:off x="1571625" y="266700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Reminders and notifications with user-controlled scheduling.</a:t>
            </a:r>
          </a:p>
        </p:txBody>
      </p:sp>
      <p:sp>
        <p:nvSpPr>
          <p:cNvPr id="8" name="">
            <a:extLst xmlns:a="http://schemas.openxmlformats.org/drawingml/2006/main">
              <a:ext uri="{FF2B5EF4-FFF2-40B4-BE49-F238E27FC236}">
                <a16:creationId xmlns:a16="http://schemas.microsoft.com/office/drawing/2014/main" id="{A7CDA422-1054-4D2D-8E5E-CA95894097B6}"/>
              </a:ext>
            </a:extLst>
          </p:cNvPr>
          <p:cNvSpPr>
            <a:spLocks xmlns:a="http://schemas.openxmlformats.org/drawingml/2006/main" noGrp="1"/>
          </p:cNvSpPr>
          <p:nvPr/>
        </p:nvSpPr>
        <p:spPr>
          <a:xfrm xmlns:a="http://schemas.openxmlformats.org/drawingml/2006/main">
            <a:off x="762000" y="376237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A7A9595E-0065-4ADE-AF52-8C708949190A}"/>
              </a:ext>
            </a:extLst>
          </p:cNvPr>
          <p:cNvSpPr>
            <a:spLocks xmlns:a="http://schemas.openxmlformats.org/drawingml/2006/main" noGrp="1"/>
          </p:cNvSpPr>
          <p:nvPr/>
        </p:nvSpPr>
        <p:spPr>
          <a:xfrm xmlns:a="http://schemas.openxmlformats.org/drawingml/2006/main">
            <a:off x="1571625" y="357187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Offline synchronization with explicit conflict handling.</a:t>
            </a:r>
          </a:p>
        </p:txBody>
      </p:sp>
      <p:sp>
        <p:nvSpPr>
          <p:cNvPr id="10" name="">
            <a:extLst xmlns:a="http://schemas.openxmlformats.org/drawingml/2006/main">
              <a:ext uri="{FF2B5EF4-FFF2-40B4-BE49-F238E27FC236}">
                <a16:creationId xmlns:a16="http://schemas.microsoft.com/office/drawing/2014/main" id="{06732A37-3ADE-45EB-839C-659E8C20B544}"/>
              </a:ext>
            </a:extLst>
          </p:cNvPr>
          <p:cNvSpPr>
            <a:spLocks xmlns:a="http://schemas.openxmlformats.org/drawingml/2006/main" noGrp="1"/>
          </p:cNvSpPr>
          <p:nvPr/>
        </p:nvSpPr>
        <p:spPr>
          <a:xfrm xmlns:a="http://schemas.openxmlformats.org/drawingml/2006/main">
            <a:off x="762000" y="466725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B6323C78-3E5D-4341-B952-BF01AE7F40F4}"/>
              </a:ext>
            </a:extLst>
          </p:cNvPr>
          <p:cNvSpPr>
            <a:spLocks xmlns:a="http://schemas.openxmlformats.org/drawingml/2006/main" noGrp="1"/>
          </p:cNvSpPr>
          <p:nvPr/>
        </p:nvSpPr>
        <p:spPr>
          <a:xfrm xmlns:a="http://schemas.openxmlformats.org/drawingml/2006/main">
            <a:off x="1571625" y="447675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Shared planning, an optional mood journal, and native widgets.</a:t>
            </a:r>
          </a:p>
        </p:txBody>
      </p:sp>
    </p:spTree>
    <p:extLst>
      <p:ext uri="{BB962C8B-B14F-4D97-AF65-F5344CB8AC3E}">
        <p14:creationId xmlns:p14="http://schemas.microsoft.com/office/powerpoint/2010/main" val="162021390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F33E4EE-CAC7-48A3-85E8-B73A9692A213}"/>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B6ED1B7A-4755-4815-BAE9-59A77BE2FF12}"/>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8BD0F978-7974-489E-8717-C360D5DEFAD6}"/>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4CA944E6-A1F4-44F0-8DB2-E5296864DCC9}"/>
              </a:ext>
            </a:extLst>
          </p:cNvPr>
          <p:cNvSpPr>
            <a:spLocks xmlns:a="http://schemas.openxmlformats.org/drawingml/2006/main" noGrp="1"/>
          </p:cNvSpPr>
          <p:nvPr/>
        </p:nvSpPr>
        <p:spPr>
          <a:xfrm xmlns:a="http://schemas.openxmlformats.org/drawingml/2006/main">
            <a:off x="762000" y="195262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4C9AC76-AA7B-468A-B65C-1B1DFFF3335A}"/>
              </a:ext>
            </a:extLst>
          </p:cNvPr>
          <p:cNvSpPr>
            <a:spLocks xmlns:a="http://schemas.openxmlformats.org/drawingml/2006/main" noGrp="1"/>
          </p:cNvSpPr>
          <p:nvPr/>
        </p:nvSpPr>
        <p:spPr>
          <a:xfrm xmlns:a="http://schemas.openxmlformats.org/drawingml/2006/main">
            <a:off x="1571625" y="176212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Fais combines one-time tasks and repeating routines in a working MERN app.</a:t>
            </a:r>
          </a:p>
        </p:txBody>
      </p:sp>
      <p:sp>
        <p:nvSpPr>
          <p:cNvPr id="6" name="">
            <a:extLst xmlns:a="http://schemas.openxmlformats.org/drawingml/2006/main">
              <a:ext uri="{FF2B5EF4-FFF2-40B4-BE49-F238E27FC236}">
                <a16:creationId xmlns:a16="http://schemas.microsoft.com/office/drawing/2014/main" id="{07D7FF05-745B-477E-AF1A-63EB590AEBD6}"/>
              </a:ext>
            </a:extLst>
          </p:cNvPr>
          <p:cNvSpPr>
            <a:spLocks xmlns:a="http://schemas.openxmlformats.org/drawingml/2006/main" noGrp="1"/>
          </p:cNvSpPr>
          <p:nvPr/>
        </p:nvSpPr>
        <p:spPr>
          <a:xfrm xmlns:a="http://schemas.openxmlformats.org/drawingml/2006/main">
            <a:off x="762000" y="28575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66307989-37CD-4491-8B42-CC4D9F32D090}"/>
              </a:ext>
            </a:extLst>
          </p:cNvPr>
          <p:cNvSpPr>
            <a:spLocks xmlns:a="http://schemas.openxmlformats.org/drawingml/2006/main" noGrp="1"/>
          </p:cNvSpPr>
          <p:nvPr/>
        </p:nvSpPr>
        <p:spPr>
          <a:xfrm xmlns:a="http://schemas.openxmlformats.org/drawingml/2006/main">
            <a:off x="1571625" y="266700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Confirmed MongoDB data survives refreshes and session restoration.</a:t>
            </a:r>
          </a:p>
        </p:txBody>
      </p:sp>
      <p:sp>
        <p:nvSpPr>
          <p:cNvPr id="8" name="">
            <a:extLst xmlns:a="http://schemas.openxmlformats.org/drawingml/2006/main">
              <a:ext uri="{FF2B5EF4-FFF2-40B4-BE49-F238E27FC236}">
                <a16:creationId xmlns:a16="http://schemas.microsoft.com/office/drawing/2014/main" id="{006BEF25-27DE-4642-A9C7-E35B41CE0F9C}"/>
              </a:ext>
            </a:extLst>
          </p:cNvPr>
          <p:cNvSpPr>
            <a:spLocks xmlns:a="http://schemas.openxmlformats.org/drawingml/2006/main" noGrp="1"/>
          </p:cNvSpPr>
          <p:nvPr/>
        </p:nvSpPr>
        <p:spPr>
          <a:xfrm xmlns:a="http://schemas.openxmlformats.org/drawingml/2006/main">
            <a:off x="762000" y="376237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5121FD66-3940-4ADA-BAAD-0E3C5EF644C5}"/>
              </a:ext>
            </a:extLst>
          </p:cNvPr>
          <p:cNvSpPr>
            <a:spLocks xmlns:a="http://schemas.openxmlformats.org/drawingml/2006/main" noGrp="1"/>
          </p:cNvSpPr>
          <p:nvPr/>
        </p:nvSpPr>
        <p:spPr>
          <a:xfrm xmlns:a="http://schemas.openxmlformats.org/drawingml/2006/main">
            <a:off x="1571625" y="357187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Focused tests check isolation, date rules, ordering, and save reliability.</a:t>
            </a:r>
          </a:p>
        </p:txBody>
      </p:sp>
      <p:sp>
        <p:nvSpPr>
          <p:cNvPr id="10" name="">
            <a:extLst xmlns:a="http://schemas.openxmlformats.org/drawingml/2006/main">
              <a:ext uri="{FF2B5EF4-FFF2-40B4-BE49-F238E27FC236}">
                <a16:creationId xmlns:a16="http://schemas.microsoft.com/office/drawing/2014/main" id="{F86FA3E7-D03D-407C-8E69-9EF959CD45A2}"/>
              </a:ext>
            </a:extLst>
          </p:cNvPr>
          <p:cNvSpPr>
            <a:spLocks xmlns:a="http://schemas.openxmlformats.org/drawingml/2006/main" noGrp="1"/>
          </p:cNvSpPr>
          <p:nvPr/>
        </p:nvSpPr>
        <p:spPr>
          <a:xfrm xmlns:a="http://schemas.openxmlformats.org/drawingml/2006/main">
            <a:off x="762000" y="466725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2D254231-F3D5-4AB0-9462-05259755B017}"/>
              </a:ext>
            </a:extLst>
          </p:cNvPr>
          <p:cNvSpPr>
            <a:spLocks xmlns:a="http://schemas.openxmlformats.org/drawingml/2006/main" noGrp="1"/>
          </p:cNvSpPr>
          <p:nvPr/>
        </p:nvSpPr>
        <p:spPr>
          <a:xfrm xmlns:a="http://schemas.openxmlformats.org/drawingml/2006/main">
            <a:off x="1571625" y="447675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92D25"/>
                </a:solidFill>
                <a:latin typeface="Arial"/>
                <a:ea typeface="Arial"/>
                <a:cs typeface="Arial"/>
              </a:defRPr>
            </a:defPPr>
          </a:lstStyle>
          <a:p xmlns:a="http://schemas.openxmlformats.org/drawingml/2006/main">
            <a:pPr>
              <a:defRPr sz="1950" b="0">
                <a:solidFill>
                  <a:srgbClr val="292D25"/>
                </a:solidFill>
                <a:latin typeface="Arial"/>
                <a:ea typeface="Arial"/>
                <a:cs typeface="Arial"/>
              </a:defRPr>
            </a:pPr>
            <a:r>
              <a:rPr sz="1950" b="0">
                <a:solidFill>
                  <a:srgbClr val="292D25"/>
                </a:solidFill>
                <a:latin typeface="Arial"/>
                <a:ea typeface="Arial"/>
                <a:cs typeface="Arial"/>
              </a:rPr>
              <a:t>The project provides a foundation for further native and offline features.</a:t>
            </a:r>
          </a:p>
        </p:txBody>
      </p:sp>
    </p:spTree>
    <p:extLst>
      <p:ext uri="{BB962C8B-B14F-4D97-AF65-F5344CB8AC3E}">
        <p14:creationId xmlns:p14="http://schemas.microsoft.com/office/powerpoint/2010/main" val="166731377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DBFD3F-6CFA-4F38-B2C8-AAD3032191FF}"/>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6F71E9DB-82BA-4D97-B203-2AC88F69704C}"/>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5FC66576-17CE-4E11-9D3F-5EC63B6E5680}"/>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764B206A-C870-49B3-85C1-7158F7110BCE}"/>
              </a:ext>
            </a:extLst>
          </p:cNvPr>
          <p:cNvSpPr>
            <a:spLocks xmlns:a="http://schemas.openxmlformats.org/drawingml/2006/main" noGrp="1"/>
          </p:cNvSpPr>
          <p:nvPr/>
        </p:nvSpPr>
        <p:spPr>
          <a:xfrm xmlns:a="http://schemas.openxmlformats.org/drawingml/2006/main">
            <a:off x="762000" y="195262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6CB3EBC-0867-46D9-B8E7-37DA367374F6}"/>
              </a:ext>
            </a:extLst>
          </p:cNvPr>
          <p:cNvSpPr>
            <a:spLocks xmlns:a="http://schemas.openxmlformats.org/drawingml/2006/main" noGrp="1"/>
          </p:cNvSpPr>
          <p:nvPr/>
        </p:nvSpPr>
        <p:spPr>
          <a:xfrm xmlns:a="http://schemas.openxmlformats.org/drawingml/2006/main">
            <a:off x="1571625" y="176212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92D25"/>
                </a:solidFill>
                <a:latin typeface="Arial"/>
                <a:ea typeface="Arial"/>
                <a:cs typeface="Arial"/>
              </a:defRPr>
            </a:defPPr>
          </a:lstStyle>
          <a:p xmlns:a="http://schemas.openxmlformats.org/drawingml/2006/main">
            <a:pPr>
              <a:defRPr sz="1800" b="0">
                <a:solidFill>
                  <a:srgbClr val="292D25"/>
                </a:solidFill>
                <a:latin typeface="Arial"/>
                <a:ea typeface="Arial"/>
                <a:cs typeface="Arial"/>
              </a:defRPr>
            </a:pPr>
            <a:r>
              <a:rPr sz="1800" b="0">
                <a:solidFill>
                  <a:srgbClr val="292D25"/>
                </a:solidFill>
                <a:latin typeface="Arial"/>
                <a:ea typeface="Arial"/>
                <a:cs typeface="Arial"/>
              </a:rPr>
              <a:t>Design inspiration: MyTurn (myturn.kr) and its Google Play listing.</a:t>
            </a:r>
          </a:p>
        </p:txBody>
      </p:sp>
      <p:sp>
        <p:nvSpPr>
          <p:cNvPr id="6" name="">
            <a:extLst xmlns:a="http://schemas.openxmlformats.org/drawingml/2006/main">
              <a:ext uri="{FF2B5EF4-FFF2-40B4-BE49-F238E27FC236}">
                <a16:creationId xmlns:a16="http://schemas.microsoft.com/office/drawing/2014/main" id="{CE27E74E-99E1-4C42-827B-08ECAF1C965A}"/>
              </a:ext>
            </a:extLst>
          </p:cNvPr>
          <p:cNvSpPr>
            <a:spLocks xmlns:a="http://schemas.openxmlformats.org/drawingml/2006/main" noGrp="1"/>
          </p:cNvSpPr>
          <p:nvPr/>
        </p:nvSpPr>
        <p:spPr>
          <a:xfrm xmlns:a="http://schemas.openxmlformats.org/drawingml/2006/main">
            <a:off x="762000" y="28575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6D1BBEC-302C-4596-AB07-208A3E0D7447}"/>
              </a:ext>
            </a:extLst>
          </p:cNvPr>
          <p:cNvSpPr>
            <a:spLocks xmlns:a="http://schemas.openxmlformats.org/drawingml/2006/main" noGrp="1"/>
          </p:cNvSpPr>
          <p:nvPr/>
        </p:nvSpPr>
        <p:spPr>
          <a:xfrm xmlns:a="http://schemas.openxmlformats.org/drawingml/2006/main">
            <a:off x="1571625" y="266700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92D25"/>
                </a:solidFill>
                <a:latin typeface="Arial"/>
                <a:ea typeface="Arial"/>
                <a:cs typeface="Arial"/>
              </a:defRPr>
            </a:defPPr>
          </a:lstStyle>
          <a:p xmlns:a="http://schemas.openxmlformats.org/drawingml/2006/main">
            <a:pPr>
              <a:defRPr sz="1800" b="0">
                <a:solidFill>
                  <a:srgbClr val="292D25"/>
                </a:solidFill>
                <a:latin typeface="Arial"/>
                <a:ea typeface="Arial"/>
                <a:cs typeface="Arial"/>
              </a:defRPr>
            </a:pPr>
            <a:r>
              <a:rPr sz="1800" b="0">
                <a:solidFill>
                  <a:srgbClr val="292D25"/>
                </a:solidFill>
                <a:latin typeface="Arial"/>
                <a:ea typeface="Arial"/>
                <a:cs typeface="Arial"/>
              </a:rPr>
              <a:t>MERN documentation: mongodb.com/docs, expressjs.com, react.dev, nodejs.org.</a:t>
            </a:r>
          </a:p>
        </p:txBody>
      </p:sp>
      <p:sp>
        <p:nvSpPr>
          <p:cNvPr id="8" name="">
            <a:extLst xmlns:a="http://schemas.openxmlformats.org/drawingml/2006/main">
              <a:ext uri="{FF2B5EF4-FFF2-40B4-BE49-F238E27FC236}">
                <a16:creationId xmlns:a16="http://schemas.microsoft.com/office/drawing/2014/main" id="{2CFD319A-D0DC-4B9B-8C58-97E18E53655A}"/>
              </a:ext>
            </a:extLst>
          </p:cNvPr>
          <p:cNvSpPr>
            <a:spLocks xmlns:a="http://schemas.openxmlformats.org/drawingml/2006/main" noGrp="1"/>
          </p:cNvSpPr>
          <p:nvPr/>
        </p:nvSpPr>
        <p:spPr>
          <a:xfrm xmlns:a="http://schemas.openxmlformats.org/drawingml/2006/main">
            <a:off x="762000" y="3762375"/>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3D1AB6EB-E4C3-4517-8BCF-2B05C59CCB21}"/>
              </a:ext>
            </a:extLst>
          </p:cNvPr>
          <p:cNvSpPr>
            <a:spLocks xmlns:a="http://schemas.openxmlformats.org/drawingml/2006/main" noGrp="1"/>
          </p:cNvSpPr>
          <p:nvPr/>
        </p:nvSpPr>
        <p:spPr>
          <a:xfrm xmlns:a="http://schemas.openxmlformats.org/drawingml/2006/main">
            <a:off x="1571625" y="3571875"/>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92D25"/>
                </a:solidFill>
                <a:latin typeface="Arial"/>
                <a:ea typeface="Arial"/>
                <a:cs typeface="Arial"/>
              </a:defRPr>
            </a:defPPr>
          </a:lstStyle>
          <a:p xmlns:a="http://schemas.openxmlformats.org/drawingml/2006/main">
            <a:pPr>
              <a:defRPr sz="1800" b="0">
                <a:solidFill>
                  <a:srgbClr val="292D25"/>
                </a:solidFill>
                <a:latin typeface="Arial"/>
                <a:ea typeface="Arial"/>
                <a:cs typeface="Arial"/>
              </a:defRPr>
            </a:pPr>
            <a:r>
              <a:rPr sz="1800" b="0">
                <a:solidFill>
                  <a:srgbClr val="292D25"/>
                </a:solidFill>
                <a:latin typeface="Arial"/>
                <a:ea typeface="Arial"/>
                <a:cs typeface="Arial"/>
              </a:rPr>
              <a:t>Supporting tools: mongoosejs.com/docs, vite.dev/guide, moment.github.io/luxon.</a:t>
            </a:r>
          </a:p>
        </p:txBody>
      </p:sp>
      <p:sp>
        <p:nvSpPr>
          <p:cNvPr id="10" name="">
            <a:extLst xmlns:a="http://schemas.openxmlformats.org/drawingml/2006/main">
              <a:ext uri="{FF2B5EF4-FFF2-40B4-BE49-F238E27FC236}">
                <a16:creationId xmlns:a16="http://schemas.microsoft.com/office/drawing/2014/main" id="{8ABAFD91-6457-493A-A0BE-C70214ED440C}"/>
              </a:ext>
            </a:extLst>
          </p:cNvPr>
          <p:cNvSpPr>
            <a:spLocks xmlns:a="http://schemas.openxmlformats.org/drawingml/2006/main" noGrp="1"/>
          </p:cNvSpPr>
          <p:nvPr/>
        </p:nvSpPr>
        <p:spPr>
          <a:xfrm xmlns:a="http://schemas.openxmlformats.org/drawingml/2006/main">
            <a:off x="762000" y="466725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75984E"/>
                </a:solidFill>
                <a:latin typeface="Arial"/>
                <a:ea typeface="Arial"/>
                <a:cs typeface="Arial"/>
              </a:defRPr>
            </a:defPPr>
          </a:lstStyle>
          <a:p xmlns:a="http://schemas.openxmlformats.org/drawingml/2006/main">
            <a:pPr>
              <a:defRPr sz="1650" b="1">
                <a:solidFill>
                  <a:srgbClr val="75984E"/>
                </a:solidFill>
                <a:latin typeface="Arial"/>
                <a:ea typeface="Arial"/>
                <a:cs typeface="Arial"/>
              </a:defRPr>
            </a:pPr>
            <a:r>
              <a:rPr sz="1650" b="1">
                <a:solidFill>
                  <a:srgbClr val="75984E"/>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5CF2FFCD-A0C1-4761-8683-C8557A57D085}"/>
              </a:ext>
            </a:extLst>
          </p:cNvPr>
          <p:cNvSpPr>
            <a:spLocks xmlns:a="http://schemas.openxmlformats.org/drawingml/2006/main" noGrp="1"/>
          </p:cNvSpPr>
          <p:nvPr/>
        </p:nvSpPr>
        <p:spPr>
          <a:xfrm xmlns:a="http://schemas.openxmlformats.org/drawingml/2006/main">
            <a:off x="1571625" y="4476750"/>
            <a:ext cx="966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92D25"/>
                </a:solidFill>
                <a:latin typeface="Arial"/>
                <a:ea typeface="Arial"/>
                <a:cs typeface="Arial"/>
              </a:defRPr>
            </a:defPPr>
          </a:lstStyle>
          <a:p xmlns:a="http://schemas.openxmlformats.org/drawingml/2006/main">
            <a:pPr>
              <a:defRPr sz="1800" b="0">
                <a:solidFill>
                  <a:srgbClr val="292D25"/>
                </a:solidFill>
                <a:latin typeface="Arial"/>
                <a:ea typeface="Arial"/>
                <a:cs typeface="Arial"/>
              </a:defRPr>
            </a:pPr>
            <a:r>
              <a:rPr sz="1800" b="0">
                <a:solidFill>
                  <a:srgbClr val="292D25"/>
                </a:solidFill>
                <a:latin typeface="Arial"/>
                <a:ea typeface="Arial"/>
                <a:cs typeface="Arial"/>
              </a:rPr>
              <a:t>Assets: original SVG illustrations; Lucide (ISC); DM Sans and Manrope (SIL OFL).</a:t>
            </a:r>
          </a:p>
        </p:txBody>
      </p:sp>
    </p:spTree>
    <p:extLst>
      <p:ext uri="{BB962C8B-B14F-4D97-AF65-F5344CB8AC3E}">
        <p14:creationId xmlns:p14="http://schemas.microsoft.com/office/powerpoint/2010/main" val="573306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F9398A-6F48-437B-A84A-669E0680BF07}"/>
              </a:ext>
            </a:extLst>
          </p:cNvPr>
          <p:cNvSpPr>
            <a:spLocks xmlns:a="http://schemas.openxmlformats.org/drawingml/2006/main" noGrp="1"/>
          </p:cNvSpPr>
          <p:nvPr/>
        </p:nvSpPr>
        <p:spPr>
          <a:xfrm xmlns:a="http://schemas.openxmlformats.org/drawingml/2006/main">
            <a:off x="685800" y="5238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292D25"/>
                </a:solidFill>
                <a:latin typeface="Arial"/>
                <a:ea typeface="Arial"/>
                <a:cs typeface="Arial"/>
              </a:defRPr>
            </a:defPPr>
          </a:lstStyle>
          <a:p xmlns:a="http://schemas.openxmlformats.org/drawingml/2006/main">
            <a:pPr>
              <a:defRPr sz="3300" b="1">
                <a:solidFill>
                  <a:srgbClr val="292D25"/>
                </a:solidFill>
                <a:latin typeface="Arial"/>
                <a:ea typeface="Arial"/>
                <a:cs typeface="Arial"/>
              </a:defRPr>
            </a:pPr>
            <a:r>
              <a:rPr sz="3300" b="1">
                <a:solidFill>
                  <a:srgbClr val="292D25"/>
                </a:solidFill>
                <a:latin typeface="Arial"/>
                <a:ea typeface="Arial"/>
                <a:cs typeface="Arial"/>
              </a:rPr>
              <a:t>Thank You</a:t>
            </a:r>
          </a:p>
        </p:txBody>
      </p:sp>
      <p:sp>
        <p:nvSpPr>
          <p:cNvPr id="2" name="">
            <a:extLst xmlns:a="http://schemas.openxmlformats.org/drawingml/2006/main">
              <a:ext uri="{FF2B5EF4-FFF2-40B4-BE49-F238E27FC236}">
                <a16:creationId xmlns:a16="http://schemas.microsoft.com/office/drawing/2014/main" id="{2B307F04-7924-4E3D-882B-4F00B54F0103}"/>
              </a:ext>
            </a:extLst>
          </p:cNvPr>
          <p:cNvSpPr>
            <a:spLocks xmlns:a="http://schemas.openxmlformats.org/drawingml/2006/main" noGrp="1"/>
          </p:cNvSpPr>
          <p:nvPr/>
        </p:nvSpPr>
        <p:spPr>
          <a:xfrm xmlns:a="http://schemas.openxmlformats.org/drawingml/2006/main">
            <a:off x="685800" y="625792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8816C"/>
                </a:solidFill>
                <a:latin typeface="Arial"/>
                <a:ea typeface="Arial"/>
                <a:cs typeface="Arial"/>
              </a:defRPr>
            </a:defPPr>
          </a:lstStyle>
          <a:p xmlns:a="http://schemas.openxmlformats.org/drawingml/2006/main">
            <a:pPr>
              <a:defRPr sz="975" b="0">
                <a:solidFill>
                  <a:srgbClr val="78816C"/>
                </a:solidFill>
                <a:latin typeface="Arial"/>
                <a:ea typeface="Arial"/>
                <a:cs typeface="Arial"/>
              </a:defRPr>
            </a:pPr>
            <a:r>
              <a:rPr sz="975" b="0">
                <a:solidFill>
                  <a:srgbClr val="78816C"/>
                </a:solidFill>
                <a:latin typeface="Arial"/>
                <a:ea typeface="Arial"/>
                <a:cs typeface="Arial"/>
              </a:rPr>
              <a:t>FAIS / FULL STACK DEVELOPMENT</a:t>
            </a:r>
          </a:p>
        </p:txBody>
      </p:sp>
      <p:sp>
        <p:nvSpPr>
          <p:cNvPr id="3" name="">
            <a:extLst xmlns:a="http://schemas.openxmlformats.org/drawingml/2006/main">
              <a:ext uri="{FF2B5EF4-FFF2-40B4-BE49-F238E27FC236}">
                <a16:creationId xmlns:a16="http://schemas.microsoft.com/office/drawing/2014/main" id="{2C1D01D5-F767-4497-80B4-41854E64557D}"/>
              </a:ext>
            </a:extLst>
          </p:cNvPr>
          <p:cNvSpPr>
            <a:spLocks xmlns:a="http://schemas.openxmlformats.org/drawingml/2006/main" noGrp="1"/>
          </p:cNvSpPr>
          <p:nvPr/>
        </p:nvSpPr>
        <p:spPr>
          <a:xfrm xmlns:a="http://schemas.openxmlformats.org/drawingml/2006/main">
            <a:off x="10858500" y="6210300"/>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75984E"/>
                </a:solidFill>
                <a:latin typeface="Arial"/>
                <a:ea typeface="Arial"/>
                <a:cs typeface="Arial"/>
              </a:defRPr>
            </a:defPPr>
          </a:lstStyle>
          <a:p xmlns:a="http://schemas.openxmlformats.org/drawingml/2006/main">
            <a:pPr>
              <a:defRPr sz="1200" b="1">
                <a:solidFill>
                  <a:srgbClr val="75984E"/>
                </a:solidFill>
                <a:latin typeface="Arial"/>
                <a:ea typeface="Arial"/>
                <a:cs typeface="Arial"/>
              </a:defRPr>
            </a:pPr>
            <a:r>
              <a:rPr sz="1200" b="1">
                <a:solidFill>
                  <a:srgbClr val="75984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C13CECF4-6623-41F2-9488-73B05D2F53DE}"/>
              </a:ext>
            </a:extLst>
          </p:cNvPr>
          <p:cNvSpPr>
            <a:spLocks xmlns:a="http://schemas.openxmlformats.org/drawingml/2006/main" noGrp="1"/>
          </p:cNvSpPr>
          <p:nvPr/>
        </p:nvSpPr>
        <p:spPr>
          <a:xfrm xmlns:a="http://schemas.openxmlformats.org/drawingml/2006/main">
            <a:off x="723900" y="2105025"/>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6825" b="1">
                <a:solidFill>
                  <a:srgbClr val="75984E"/>
                </a:solidFill>
                <a:latin typeface="Arial"/>
                <a:ea typeface="Arial"/>
                <a:cs typeface="Arial"/>
              </a:defRPr>
            </a:defPPr>
          </a:lstStyle>
          <a:p xmlns:a="http://schemas.openxmlformats.org/drawingml/2006/main">
            <a:pPr>
              <a:defRPr sz="6825" b="1">
                <a:solidFill>
                  <a:srgbClr val="75984E"/>
                </a:solidFill>
                <a:latin typeface="Arial"/>
                <a:ea typeface="Arial"/>
                <a:cs typeface="Arial"/>
              </a:defRPr>
            </a:pPr>
            <a:r>
              <a:rPr sz="6825" b="1">
                <a:solidFill>
                  <a:srgbClr val="75984E"/>
                </a:solidFill>
                <a:latin typeface="Arial"/>
                <a:ea typeface="Arial"/>
                <a:cs typeface="Arial"/>
              </a:rPr>
              <a:t>Questions?</a:t>
            </a:r>
          </a:p>
        </p:txBody>
      </p:sp>
      <p:sp>
        <p:nvSpPr>
          <p:cNvPr id="5" name="">
            <a:extLst xmlns:a="http://schemas.openxmlformats.org/drawingml/2006/main">
              <a:ext uri="{FF2B5EF4-FFF2-40B4-BE49-F238E27FC236}">
                <a16:creationId xmlns:a16="http://schemas.microsoft.com/office/drawing/2014/main" id="{6666E0DB-E29C-4576-9ACE-414FA98F01AD}"/>
              </a:ext>
            </a:extLst>
          </p:cNvPr>
          <p:cNvSpPr>
            <a:spLocks xmlns:a="http://schemas.openxmlformats.org/drawingml/2006/main" noGrp="1"/>
          </p:cNvSpPr>
          <p:nvPr/>
        </p:nvSpPr>
        <p:spPr>
          <a:xfrm xmlns:a="http://schemas.openxmlformats.org/drawingml/2006/main">
            <a:off x="762000" y="41148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292D25"/>
                </a:solidFill>
                <a:latin typeface="Arial"/>
                <a:ea typeface="Arial"/>
                <a:cs typeface="Arial"/>
              </a:defRPr>
            </a:defPPr>
          </a:lstStyle>
          <a:p xmlns:a="http://schemas.openxmlformats.org/drawingml/2006/main">
            <a:pPr>
              <a:defRPr sz="2400" b="0">
                <a:solidFill>
                  <a:srgbClr val="292D25"/>
                </a:solidFill>
                <a:latin typeface="Arial"/>
                <a:ea typeface="Arial"/>
                <a:cs typeface="Arial"/>
              </a:defRPr>
            </a:pPr>
            <a:r>
              <a:rPr sz="2400" b="0">
                <a:solidFill>
                  <a:srgbClr val="292D25"/>
                </a:solidFill>
                <a:latin typeface="Arial"/>
                <a:ea typeface="Arial"/>
                <a:cs typeface="Arial"/>
              </a:rPr>
              <a:t>Fais</a:t>
            </a:r>
          </a:p>
          <a:p xmlns:a="http://schemas.openxmlformats.org/drawingml/2006/main">
            <a:pPr>
              <a:defRPr sz="2400" b="0">
                <a:solidFill>
                  <a:srgbClr val="292D25"/>
                </a:solidFill>
                <a:latin typeface="Arial"/>
                <a:ea typeface="Arial"/>
                <a:cs typeface="Arial"/>
              </a:defRPr>
            </a:pPr>
            <a:r>
              <a:rPr sz="2400" b="0">
                <a:solidFill>
                  <a:srgbClr val="292D25"/>
                </a:solidFill>
                <a:latin typeface="Arial"/>
                <a:ea typeface="Arial"/>
                <a:cs typeface="Arial"/>
              </a:rPr>
              <a:t>A little progress, every day.</a:t>
            </a:r>
          </a:p>
        </p:txBody>
      </p:sp>
    </p:spTree>
    <p:extLst>
      <p:ext uri="{BB962C8B-B14F-4D97-AF65-F5344CB8AC3E}">
        <p14:creationId xmlns:p14="http://schemas.microsoft.com/office/powerpoint/2010/main" val="3807599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2026-10-13T16:35:37.2350000Z</dcterms:created>
  <dcterms:modified xsi:type="dcterms:W3CDTF">2026-10-13T16:35:37.2350000Z</dcterms:modified>
</coreProperties>
</file>